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7af293d3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7af293d3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7af293d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7af293d3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20040" y="82296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 Beneficial Noise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Graph Augmentation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0040" y="2423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PiNGDA: Positive-incentive Noise driven Graph Data Augmentation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20040" y="294436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20040" y="306324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Presented By Ishan Raha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Motivation: Why Existing Graph Augmentations Fall Short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320040" y="74980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75488" y="1627632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21792" y="155448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Graph topology is complex (non-Euclidean)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75488" y="2194560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21792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Random edge/node dropping may disrupt critical structure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475488" y="2761488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21792" y="2688336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Heuristic methods (GCA, DropEdge) cause instability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75488" y="3328416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21792" y="3255264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principled way to define 'safe' perturbations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75488" y="3895344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21792" y="382219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Unstable augmentations degrade GCL pre-training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Key Insight: π-Noise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983480" y="1508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Noise ε is beneficial if it reduces task complexity: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4983480" y="2011680"/>
            <a:ext cx="3657600" cy="54864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983480" y="2075688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I(T, E) &gt; 0   ⟺   H(T) &gt; H(T | E)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956048" y="2798064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102352" y="272491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Noise must reduce task entropy H(T)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4956048" y="3300984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102352" y="322783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Standard GCL = point estimate of π-noise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4956048" y="3803903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102352" y="373075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Heuristic augmentations ≈ poor point estimates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4956048" y="4306824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5102352" y="423367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Solution: learn the noise distribution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20040" y="164592"/>
            <a:ext cx="850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PiNGDA do?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20040" y="749808"/>
            <a:ext cx="8503800" cy="1380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50" y="1079479"/>
            <a:ext cx="4444749" cy="7923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866825" y="1131825"/>
            <a:ext cx="38859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standard InfoNCE loss function used for GCL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20040" y="164592"/>
            <a:ext cx="850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PiNGDA do?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20040" y="749808"/>
            <a:ext cx="8503800" cy="1380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50" y="1079479"/>
            <a:ext cx="4444749" cy="792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866825" y="1131825"/>
            <a:ext cx="38859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standard InfoNCE loss function used for GCL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20050" y="2491150"/>
            <a:ext cx="8549700" cy="22638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97225" y="2839692"/>
            <a:ext cx="783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The paper shows that the  standard contrastive learning paradigm is equivalent to optimizing a contrastive learning module</a:t>
            </a:r>
            <a:endParaRPr sz="12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with a point estimation of the π-noise</a:t>
            </a:r>
            <a:endParaRPr sz="12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97225" y="3518467"/>
            <a:ext cx="783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The heuristic graph augmentation often fails to be a good point-estimation of π-noise (Shown using dirac delta), which causes the instability of GCL using heuristic graph augmentations.</a:t>
            </a:r>
            <a:endParaRPr sz="12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Theoretical Framework: Bridging π-Noise and GCL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320040" y="74980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74320" y="914400"/>
            <a:ext cx="4114800" cy="178308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02920" y="107899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  Task Entropy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02920" y="1444752"/>
            <a:ext cx="3657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02920" y="153619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Introduce Gaussian auxiliary variable α. Task entropy:</a:t>
            </a:r>
            <a:b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H(T) = E[H(N(0, f(ℓ(u;θ))))]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4754880" y="914400"/>
            <a:ext cx="4114800" cy="178308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4983480" y="107899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  π-Noise Objective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983480" y="1444752"/>
            <a:ext cx="3657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4983480" y="153619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Maximize mutual information:</a:t>
            </a:r>
            <a:b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max_{E,θ} I(T,E)  ⟺  max_{E,θ} −H(T|E)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274320" y="2926080"/>
            <a:ext cx="4114800" cy="178308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02920" y="309067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3  GCL Connection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02920" y="3456432"/>
            <a:ext cx="3657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02920" y="354787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Predefined augmentation ≡ Dirac delta p(ε|u) → δ_{ε₀}(ε)</a:t>
            </a:r>
            <a:b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Reduces to InfoNCE — standard GCL is a point estimate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754880" y="2926080"/>
            <a:ext cx="4114800" cy="178308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983480" y="309067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4  PiNGDA Solution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983480" y="3456432"/>
            <a:ext cx="3657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4983480" y="3547872"/>
            <a:ext cx="374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Learn </a:t>
            </a: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pψ (ε|u)</a:t>
            </a: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with a trainable noise generator:</a:t>
            </a:r>
            <a:b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689" y="3911593"/>
            <a:ext cx="2605153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PiNGDA Framework Architecture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320040" y="74980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28600" y="914400"/>
            <a:ext cx="2651760" cy="38862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11480" y="10241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π-Noise Generator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11480" y="1389888"/>
            <a:ext cx="22860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350093" y="914400"/>
            <a:ext cx="2651700" cy="38862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3520440" y="10241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Augmented Graph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520440" y="1389888"/>
            <a:ext cx="22860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446520" y="914400"/>
            <a:ext cx="2651760" cy="38862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629400" y="10241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Contrastive Learning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6629400" y="1389888"/>
            <a:ext cx="22860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3035808" y="25146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144768" y="25146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365760" y="1508760"/>
            <a:ext cx="2377440" cy="132588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02920" y="1600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Topological Noise (ε_edge)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02920" y="19659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MLP on node pairs (u, v)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02920" y="22585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p(εᵥ|u) = Bern(g_ψ(u,v))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02920" y="255117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Gumbel-Softmax for gradients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365760" y="3017520"/>
            <a:ext cx="2377440" cy="132588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02920" y="31089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Attribute Noise (ε_attr)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02920" y="34747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p(ε_attr|u) = N(μ, Σ)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02920" y="37673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MLP learns μ and σ per node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02920" y="4059935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ε_attr = μ + σ·ϵ,  ϵ~N(0,I)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3474720" y="1600200"/>
            <a:ext cx="22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Original G  +</a:t>
            </a:r>
            <a:b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topological &amp;</a:t>
            </a:r>
            <a:r>
              <a:rPr lang="en-US" sz="12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attribute noise</a:t>
            </a:r>
            <a:b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→  G_ε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583680" y="1508760"/>
            <a:ext cx="2377440" cy="64008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6675120" y="161848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GNN Encoder (G → Z)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6583680" y="2377440"/>
            <a:ext cx="2377440" cy="64008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675120" y="24871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GNN Encoder (G_ε → Z_ε)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6583680" y="3246120"/>
            <a:ext cx="2377440" cy="6400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675120" y="33558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Loss: L_π  (InfoNCE variant)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20040" y="164592"/>
            <a:ext cx="850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Results: Node Classification (Accuracy) — 7 Benchmark Datasets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320040" y="74980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28600" y="914400"/>
            <a:ext cx="138988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283464" y="969264"/>
            <a:ext cx="1307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645920" y="914400"/>
            <a:ext cx="7955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1700784" y="9692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Cora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2468880" y="914400"/>
            <a:ext cx="7955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2523744" y="9692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CiteSeer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3291840" y="914400"/>
            <a:ext cx="7955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3346704" y="9692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PubMed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4114800" y="914400"/>
            <a:ext cx="7955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169663" y="9692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Wiki-CS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937760" y="914400"/>
            <a:ext cx="7955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4992624" y="9692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760720" y="914400"/>
            <a:ext cx="7955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5815584" y="9692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</a:t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6583680" y="914400"/>
            <a:ext cx="566928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6638544" y="969264"/>
            <a:ext cx="484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228600" y="1298448"/>
            <a:ext cx="138988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283464" y="1371600"/>
            <a:ext cx="1307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GCA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1645920" y="1298448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1700784" y="137160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85.20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2468880" y="1298448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23744" y="137160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71.76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3291840" y="1298448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3346704" y="137160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87.07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114800" y="1298448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4169663" y="137160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81.26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4937760" y="1298448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4992624" y="137160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93.19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5760720" y="1298448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5815584" y="137160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94.96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6583680" y="1298448"/>
            <a:ext cx="5669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6638544" y="1371600"/>
            <a:ext cx="484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3.4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228600" y="1773936"/>
            <a:ext cx="138988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283464" y="1847088"/>
            <a:ext cx="1307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BGRL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645920" y="1773936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1700784" y="1847088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83.80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2468880" y="1773936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2523744" y="1847088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71.51</a:t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3291840" y="1773936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3346704" y="1847088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85.60</a:t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4114800" y="1773936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169663" y="1847088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81.38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4937760" y="1773936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4992624" y="1847088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93.19</a:t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5760720" y="1773936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815584" y="1847088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95.54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6583680" y="1773936"/>
            <a:ext cx="5669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6638544" y="1847088"/>
            <a:ext cx="484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4.2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228600" y="2249424"/>
            <a:ext cx="138988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283464" y="2322576"/>
            <a:ext cx="1307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AD-GCL ✓</a:t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645920" y="2249424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1700784" y="232257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83.88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2468880" y="2249424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2523744" y="232257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68.74</a:t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3291840" y="2249424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3346704" y="232257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84.23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4114800" y="2249424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4169663" y="232257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80.57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4937760" y="2249424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4992624" y="232257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91.92</a:t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5760720" y="2249424"/>
            <a:ext cx="7955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5815584" y="232257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95.63</a:t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6583680" y="2249424"/>
            <a:ext cx="566928" cy="438912"/>
          </a:xfrm>
          <a:prstGeom prst="rect">
            <a:avLst/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6638544" y="2322576"/>
            <a:ext cx="484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6.0</a:t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228600" y="2724912"/>
            <a:ext cx="138988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283464" y="2798064"/>
            <a:ext cx="1307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JOAO ✓</a:t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1645920" y="2724912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1700784" y="27980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82.77</a:t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2468880" y="2724912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2523744" y="27980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72.09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3291840" y="2724912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3346704" y="27980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83.83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4114800" y="2724912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4169663" y="27980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80.43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4937760" y="2724912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4992624" y="27980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78.23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5760720" y="2724912"/>
            <a:ext cx="7955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5815584" y="27980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94.30</a:t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6583680" y="2724912"/>
            <a:ext cx="566928" cy="43891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6638544" y="2798064"/>
            <a:ext cx="484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6.8</a:t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228600" y="3200400"/>
            <a:ext cx="138988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283464" y="3273552"/>
            <a:ext cx="1307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PiNGDA ✓</a:t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1645920" y="3200400"/>
            <a:ext cx="7955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1700784" y="327355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86.25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2468880" y="3200400"/>
            <a:ext cx="7955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2523744" y="327355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72.44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3291840" y="3200400"/>
            <a:ext cx="7955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3346704" y="327355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87.34</a:t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4114800" y="3200400"/>
            <a:ext cx="7955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4169663" y="327355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82.07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4937760" y="3200400"/>
            <a:ext cx="7955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4992624" y="327355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93.29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5760720" y="3200400"/>
            <a:ext cx="7955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5815584" y="327355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95.81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6583680" y="3200400"/>
            <a:ext cx="566928" cy="438912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6638544" y="3273552"/>
            <a:ext cx="484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1.4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228600" y="4526280"/>
            <a:ext cx="868680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365760" y="4562856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PiNGDA ranks #1 across all datasets with lowest variance — outperforming both heuristic and learnable baselines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Ablation Study: Augmentation Strategy Comparison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320040" y="74980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228600" y="914400"/>
            <a:ext cx="2788920" cy="393192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365760" y="10058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Cora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365760" y="138988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Edge  ×  Feature  →  Accuracy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365760" y="1682496"/>
            <a:ext cx="2514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365760" y="1801368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429768" y="188366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No Aug.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2103120" y="1883664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82.59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365760" y="2359152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429768" y="244144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Random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2103120" y="244144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84.40</a:t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365760" y="2916936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429768" y="299923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Learnable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2103120" y="2999232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84.28</a:t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365760" y="3474720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429768" y="3557015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Random × Random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2103120" y="3557015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85.84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365760" y="4032504"/>
            <a:ext cx="2514600" cy="475488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429768" y="41148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Learnable × Learnable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2103120" y="411480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86.25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3246120" y="914400"/>
            <a:ext cx="2788920" cy="393192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3383279" y="10058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PubMed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3383279" y="138988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Edge  ×  Feature  →  Accuracy</a:t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3383279" y="1682496"/>
            <a:ext cx="2514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3383279" y="1801368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3447288" y="188366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No Aug.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5120640" y="1883664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85.11</a:t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3383279" y="2359152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3447288" y="244144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Random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5120640" y="244144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86.61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3383279" y="2916936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447288" y="299923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Learnable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5120640" y="2999232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86.81</a:t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3383279" y="3474720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3447288" y="3557015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Random × Random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5120640" y="3557015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86.89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3383279" y="4032504"/>
            <a:ext cx="2514600" cy="475488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3447288" y="41148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Learnable × Learnable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5120640" y="411480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87.34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6263640" y="914400"/>
            <a:ext cx="2788920" cy="393192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400800" y="10058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Wiki-CS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6400800" y="138988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Edge  ×  Feature  →  Accuracy</a:t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6400800" y="1682496"/>
            <a:ext cx="251460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6400800" y="1801368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6464807" y="188366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No Aug.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8138159" y="1883664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80.34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6400800" y="2359152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6464807" y="244144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 Aug. × Random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8138159" y="244144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81.05</a:t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6400800" y="2916936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6464807" y="299923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Random × Random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8138159" y="2999232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81.61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6400800" y="3474720"/>
            <a:ext cx="2514600" cy="475488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6464807" y="3557015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Random × Learnable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8138159" y="3557015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82.03</a:t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6400800" y="4032504"/>
            <a:ext cx="2514600" cy="475488"/>
          </a:xfrm>
          <a:prstGeom prst="rect">
            <a:avLst/>
          </a:prstGeom>
          <a:solidFill>
            <a:srgbClr val="1A2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6464807" y="41148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Learnable × Learnable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8138159" y="411480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82.17</a:t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Learnable (both edges + features) consistently achieves the best accuracy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PiNGDA Learn?  Visualization &amp; Efficiency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320040" y="749808"/>
            <a:ext cx="8503920" cy="13716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228600" y="914400"/>
            <a:ext cx="4937760" cy="393192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457200" y="10241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Topological Noise Visualization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457200" y="1408176"/>
            <a:ext cx="448056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FFA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2148840" y="20574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3429000" y="20574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21"/>
          <p:cNvCxnSpPr/>
          <p:nvPr/>
        </p:nvCxnSpPr>
        <p:spPr>
          <a:xfrm>
            <a:off x="1325880" y="2286000"/>
            <a:ext cx="822960" cy="0"/>
          </a:xfrm>
          <a:prstGeom prst="straightConnector1">
            <a:avLst/>
          </a:prstGeom>
          <a:noFill/>
          <a:ln cap="flat" cmpd="sng" w="317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5" name="Google Shape;385;p21"/>
          <p:cNvSpPr txBox="1"/>
          <p:nvPr/>
        </p:nvSpPr>
        <p:spPr>
          <a:xfrm>
            <a:off x="457200" y="2880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PiNGDA learns to:</a:t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457200" y="3364992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603504" y="329184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Preserve  intra-class edges  →  keep class signal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457200" y="3867911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603504" y="37947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Remove  inter-class edges  →  reduce noise</a:t>
            </a: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457200" y="4370832"/>
            <a:ext cx="50292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603504" y="42976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Result: more informative augmented views</a:t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5394960" y="914400"/>
            <a:ext cx="3520440" cy="393192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5577840" y="102412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Efficiency Profile</a:t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5577840" y="1408176"/>
            <a:ext cx="310896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5577840" y="1572768"/>
            <a:ext cx="91440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5577840" y="16276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6583680" y="162763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Less memory than most GCL methods</a:t>
            </a:r>
            <a:endParaRPr/>
          </a:p>
        </p:txBody>
      </p:sp>
      <p:sp>
        <p:nvSpPr>
          <p:cNvPr id="398" name="Google Shape;398;p21"/>
          <p:cNvSpPr/>
          <p:nvPr/>
        </p:nvSpPr>
        <p:spPr>
          <a:xfrm>
            <a:off x="5577840" y="2194560"/>
            <a:ext cx="91440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5577840" y="22494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6583680" y="224942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Comparable to existing approaches</a:t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5577840" y="2816352"/>
            <a:ext cx="91440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5577840" y="287121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Trade-off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6583680" y="287121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Best accuracy-efficiency balance</a:t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5577840" y="3438144"/>
            <a:ext cx="91440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5577840" y="34930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406" name="Google Shape;406;p21"/>
          <p:cNvSpPr txBox="1"/>
          <p:nvPr/>
        </p:nvSpPr>
        <p:spPr>
          <a:xfrm>
            <a:off x="6583680" y="349300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Tested on ogbn-arxiv (169K nodes)</a:t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5577840" y="4059936"/>
            <a:ext cx="914400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5577840" y="4114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Plug-in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6583680" y="41148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Compatible with GRACE, Sp2GCL, etc.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320040" y="749808"/>
            <a:ext cx="850392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274320" y="960120"/>
            <a:ext cx="2788920" cy="32004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438912" y="107899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438912" y="1078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0" name="Google Shape;420;p22"/>
          <p:cNvSpPr txBox="1"/>
          <p:nvPr/>
        </p:nvSpPr>
        <p:spPr>
          <a:xfrm>
            <a:off x="932688" y="111556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Theory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457200" y="1508760"/>
            <a:ext cx="242316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457200" y="1627632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Standard GCL is equivalent to a point estimation of π-noise. PiNGDA proves this connection via information entropy and proposes a principled improvement.</a:t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3182112" y="960120"/>
            <a:ext cx="2788920" cy="32004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3346704" y="107899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3346704" y="1078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840480" y="111556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3364992" y="1508760"/>
            <a:ext cx="242316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3364992" y="1627632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 trainable noise generator learns beneficial perturbations on both topology (Gumbel-Softmax Bernoulli) and node attributes (Gaussian reparameterization).</a:t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6089904" y="960120"/>
            <a:ext cx="2788920" cy="32004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254496" y="107899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6254496" y="1078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6748272" y="111556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6272784" y="1508760"/>
            <a:ext cx="2423160" cy="10972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6272784" y="1627632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PiNGDA achieves rank #1 across 7 node classification benchmarks with the lowest variance — more stable and accurate than all baselines.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