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7772400" cy="10058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08">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08"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368675" cy="504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402138" y="0"/>
            <a:ext cx="3368675" cy="5048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53575"/>
            <a:ext cx="3368675" cy="5048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402138" y="9553575"/>
            <a:ext cx="3368675" cy="5048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notes"/>
          <p:cNvSpPr/>
          <p:nvPr>
            <p:ph idx="2"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2:notes"/>
          <p:cNvSpPr/>
          <p:nvPr>
            <p:ph idx="2"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3:notes"/>
          <p:cNvSpPr/>
          <p:nvPr>
            <p:ph idx="2"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7ab9d7f9a_0_1: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d7ab9d7f9a_0_1: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4:notes"/>
          <p:cNvSpPr/>
          <p:nvPr>
            <p:ph idx="2"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7ab9d7f9a_0_7: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d7ab9d7f9a_0_7: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8:notes"/>
          <p:cNvSpPr/>
          <p:nvPr>
            <p:ph idx="2"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7ab9d7f9a_0_14: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7ab9d7f9a_0_14: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3d7ab9d7f9a_0_14: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7ab9d7f9a_0_20: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7ab9d7f9a_0_20: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d7ab9d7f9a_0_20: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7ab9d7f9a_0_28: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d7ab9d7f9a_0_28: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d7ab9d7f9a_0_28: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7ab9d7f9a_0_34: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7ab9d7f9a_0_34: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7ab9d7f9a_0_34: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7ab9d7f9a_0_42: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7ab9d7f9a_0_42: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d7ab9d7f9a_0_42: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7ab9d7f9a_0_51: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7ab9d7f9a_0_51: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d7ab9d7f9a_0_51: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7ab9d7f9a_0_58: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7ab9d7f9a_0_58: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d7ab9d7f9a_0_58: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7ab9d7f9a_0_66: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7ab9d7f9a_0_66: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d7ab9d7f9a_0_66: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7ab9d7f9a_0_73: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7ab9d7f9a_0_73: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d7ab9d7f9a_0_73: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7ab9d7f9a_0_80:notes"/>
          <p:cNvSpPr/>
          <p:nvPr>
            <p:ph idx="2" type="sldImg"/>
          </p:nvPr>
        </p:nvSpPr>
        <p:spPr>
          <a:xfrm>
            <a:off x="869950" y="1257300"/>
            <a:ext cx="6032400" cy="33942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7ab9d7f9a_0_80:notes"/>
          <p:cNvSpPr txBox="1"/>
          <p:nvPr>
            <p:ph idx="1" type="body"/>
          </p:nvPr>
        </p:nvSpPr>
        <p:spPr>
          <a:xfrm>
            <a:off x="777875" y="4840288"/>
            <a:ext cx="6216600" cy="39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d7ab9d7f9a_0_80:notes"/>
          <p:cNvSpPr txBox="1"/>
          <p:nvPr>
            <p:ph idx="12" type="sldNum"/>
          </p:nvPr>
        </p:nvSpPr>
        <p:spPr>
          <a:xfrm>
            <a:off x="4402138" y="9553575"/>
            <a:ext cx="3368700" cy="504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1:notes"/>
          <p:cNvSpPr/>
          <p:nvPr>
            <p:ph idx="2" type="sldImg"/>
          </p:nvPr>
        </p:nvSpPr>
        <p:spPr>
          <a:xfrm>
            <a:off x="869950" y="1257300"/>
            <a:ext cx="603250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2"/>
          <p:cNvSpPr/>
          <p:nvPr/>
        </p:nvSpPr>
        <p:spPr>
          <a:xfrm>
            <a:off x="0" y="3352800"/>
            <a:ext cx="115824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 name="Google Shape;21;p2"/>
          <p:cNvSpPr/>
          <p:nvPr/>
        </p:nvSpPr>
        <p:spPr>
          <a:xfrm>
            <a:off x="3860800" y="6096000"/>
            <a:ext cx="38608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 name="Google Shape;22;p2"/>
          <p:cNvSpPr/>
          <p:nvPr/>
        </p:nvSpPr>
        <p:spPr>
          <a:xfrm>
            <a:off x="0" y="6096000"/>
            <a:ext cx="38608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 name="Google Shape;23;p2"/>
          <p:cNvSpPr/>
          <p:nvPr/>
        </p:nvSpPr>
        <p:spPr>
          <a:xfrm>
            <a:off x="7721600" y="6096000"/>
            <a:ext cx="38608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4" name="Google Shape;24;p2"/>
          <p:cNvSpPr txBox="1"/>
          <p:nvPr>
            <p:ph idx="1" type="body"/>
          </p:nvPr>
        </p:nvSpPr>
        <p:spPr>
          <a:xfrm>
            <a:off x="3352800" y="5410200"/>
            <a:ext cx="8026400" cy="533400"/>
          </a:xfrm>
          <a:prstGeom prst="rect">
            <a:avLst/>
          </a:prstGeom>
          <a:noFill/>
          <a:ln>
            <a:noFill/>
          </a:ln>
        </p:spPr>
        <p:txBody>
          <a:bodyPr anchorCtr="0" anchor="b" bIns="0" lIns="0" spcFirstLastPara="1" rIns="0" wrap="square" tIns="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
          <p:cNvSpPr txBox="1"/>
          <p:nvPr>
            <p:ph type="title"/>
          </p:nvPr>
        </p:nvSpPr>
        <p:spPr>
          <a:xfrm>
            <a:off x="3352800" y="3810000"/>
            <a:ext cx="8026400" cy="1524000"/>
          </a:xfrm>
          <a:prstGeom prst="rect">
            <a:avLst/>
          </a:prstGeom>
          <a:noFill/>
          <a:ln>
            <a:noFill/>
          </a:ln>
        </p:spPr>
        <p:txBody>
          <a:bodyPr anchorCtr="0" anchor="ctr" bIns="0" lIns="0" spcFirstLastPara="1" rIns="0" wrap="square" tIns="0">
            <a:noAutofit/>
          </a:bodyPr>
          <a:lstStyle>
            <a:lvl1pPr lvl="0" algn="l">
              <a:lnSpc>
                <a:spcPct val="90909"/>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BITS_university_logo_whitevert.png" id="26" name="Google Shape;26;p2"/>
          <p:cNvPicPr preferRelativeResize="0"/>
          <p:nvPr/>
        </p:nvPicPr>
        <p:blipFill rotWithShape="1">
          <a:blip r:embed="rId3">
            <a:alphaModFix/>
          </a:blip>
          <a:srcRect b="28592" l="0" r="0" t="2"/>
          <a:stretch/>
        </p:blipFill>
        <p:spPr>
          <a:xfrm>
            <a:off x="101600" y="3352800"/>
            <a:ext cx="2743200" cy="1980000"/>
          </a:xfrm>
          <a:prstGeom prst="rect">
            <a:avLst/>
          </a:prstGeom>
          <a:noFill/>
          <a:ln>
            <a:noFill/>
          </a:ln>
        </p:spPr>
      </p:pic>
      <p:sp>
        <p:nvSpPr>
          <p:cNvPr id="27" name="Google Shape;27;p2"/>
          <p:cNvSpPr txBox="1"/>
          <p:nvPr/>
        </p:nvSpPr>
        <p:spPr>
          <a:xfrm>
            <a:off x="-101600" y="5257800"/>
            <a:ext cx="2946400" cy="55399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IN" sz="2900" u="none" cap="none" strike="noStrike">
                <a:solidFill>
                  <a:schemeClr val="lt1"/>
                </a:solidFill>
                <a:latin typeface="Arial"/>
                <a:ea typeface="Arial"/>
                <a:cs typeface="Arial"/>
                <a:sym typeface="Arial"/>
              </a:rPr>
              <a:t>BITS</a:t>
            </a:r>
            <a:r>
              <a:rPr b="0" i="0" lang="en-IN" sz="2900" u="none" cap="none" strike="noStrike">
                <a:solidFill>
                  <a:schemeClr val="lt1"/>
                </a:solidFill>
                <a:latin typeface="Arial"/>
                <a:ea typeface="Arial"/>
                <a:cs typeface="Arial"/>
                <a:sym typeface="Arial"/>
              </a:rPr>
              <a:t> Pilani</a:t>
            </a:r>
            <a:endParaRPr/>
          </a:p>
        </p:txBody>
      </p:sp>
      <p:sp>
        <p:nvSpPr>
          <p:cNvPr id="28" name="Google Shape;28;p2"/>
          <p:cNvSpPr txBox="1"/>
          <p:nvPr/>
        </p:nvSpPr>
        <p:spPr>
          <a:xfrm>
            <a:off x="203200" y="5666602"/>
            <a:ext cx="254000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N" sz="1200" u="none" cap="none" strike="noStrike">
                <a:solidFill>
                  <a:srgbClr val="FFFFFF"/>
                </a:solidFill>
                <a:latin typeface="Arial"/>
                <a:ea typeface="Arial"/>
                <a:cs typeface="Arial"/>
                <a:sym typeface="Arial"/>
              </a:rPr>
              <a:t>Pilani Campus</a:t>
            </a:r>
            <a:endParaRPr b="0" i="0" sz="1200" u="none" cap="none" strike="noStrike">
              <a:solidFill>
                <a:srgbClr val="FFFFFF"/>
              </a:solidFill>
              <a:latin typeface="Arial"/>
              <a:ea typeface="Arial"/>
              <a:cs typeface="Arial"/>
              <a:sym typeface="Arial"/>
            </a:endParaRPr>
          </a:p>
        </p:txBody>
      </p:sp>
      <p:sp>
        <p:nvSpPr>
          <p:cNvPr id="29" name="Google Shape;29;p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 name="Google Shape;30;p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a:ea typeface="Arial"/>
                <a:cs typeface="Arial"/>
                <a:sym typeface="Arial"/>
              </a:defRPr>
            </a:lvl1pPr>
            <a:lvl2pPr indent="0" lvl="1" marL="0" marR="0" rtl="0" algn="l">
              <a:spcBef>
                <a:spcPts val="0"/>
              </a:spcBef>
              <a:buNone/>
              <a:defRPr b="0" i="0" sz="1800" u="none" cap="none" strike="noStrike">
                <a:solidFill>
                  <a:schemeClr val="dk1"/>
                </a:solidFill>
                <a:latin typeface="Arial"/>
                <a:ea typeface="Arial"/>
                <a:cs typeface="Arial"/>
                <a:sym typeface="Arial"/>
              </a:defRPr>
            </a:lvl2pPr>
            <a:lvl3pPr indent="0" lvl="2" marL="0" marR="0" rtl="0" algn="l">
              <a:spcBef>
                <a:spcPts val="0"/>
              </a:spcBef>
              <a:buNone/>
              <a:defRPr b="0" i="0" sz="1800" u="none" cap="none" strike="noStrike">
                <a:solidFill>
                  <a:schemeClr val="dk1"/>
                </a:solidFill>
                <a:latin typeface="Arial"/>
                <a:ea typeface="Arial"/>
                <a:cs typeface="Arial"/>
                <a:sym typeface="Arial"/>
              </a:defRPr>
            </a:lvl3pPr>
            <a:lvl4pPr indent="0" lvl="3" marL="0" marR="0" rtl="0" algn="l">
              <a:spcBef>
                <a:spcPts val="0"/>
              </a:spcBef>
              <a:buNone/>
              <a:defRPr b="0" i="0" sz="1800" u="none" cap="none" strike="noStrike">
                <a:solidFill>
                  <a:schemeClr val="dk1"/>
                </a:solidFill>
                <a:latin typeface="Arial"/>
                <a:ea typeface="Arial"/>
                <a:cs typeface="Arial"/>
                <a:sym typeface="Arial"/>
              </a:defRPr>
            </a:lvl4pPr>
            <a:lvl5pPr indent="0" lvl="4" marL="0" marR="0" rtl="0" algn="l">
              <a:spcBef>
                <a:spcPts val="0"/>
              </a:spcBef>
              <a:buNone/>
              <a:defRPr b="0" i="0" sz="1800" u="none" cap="none" strike="noStrike">
                <a:solidFill>
                  <a:schemeClr val="dk1"/>
                </a:solidFill>
                <a:latin typeface="Arial"/>
                <a:ea typeface="Arial"/>
                <a:cs typeface="Arial"/>
                <a:sym typeface="Arial"/>
              </a:defRPr>
            </a:lvl5pPr>
            <a:lvl6pPr indent="0" lvl="5" marL="0" marR="0" rtl="0" algn="l">
              <a:spcBef>
                <a:spcPts val="0"/>
              </a:spcBef>
              <a:buNone/>
              <a:defRPr b="0" i="0" sz="1800" u="none" cap="none" strike="noStrike">
                <a:solidFill>
                  <a:schemeClr val="dk1"/>
                </a:solidFill>
                <a:latin typeface="Arial"/>
                <a:ea typeface="Arial"/>
                <a:cs typeface="Arial"/>
                <a:sym typeface="Arial"/>
              </a:defRPr>
            </a:lvl6pPr>
            <a:lvl7pPr indent="0" lvl="6" marL="0" marR="0" rtl="0" algn="l">
              <a:spcBef>
                <a:spcPts val="0"/>
              </a:spcBef>
              <a:buNone/>
              <a:defRPr b="0" i="0" sz="1800" u="none" cap="none" strike="noStrike">
                <a:solidFill>
                  <a:schemeClr val="dk1"/>
                </a:solidFill>
                <a:latin typeface="Arial"/>
                <a:ea typeface="Arial"/>
                <a:cs typeface="Arial"/>
                <a:sym typeface="Arial"/>
              </a:defRPr>
            </a:lvl7pPr>
            <a:lvl8pPr indent="0" lvl="7" marL="0" marR="0" rtl="0" algn="l">
              <a:spcBef>
                <a:spcPts val="0"/>
              </a:spcBef>
              <a:buNone/>
              <a:defRPr b="0" i="0" sz="1800" u="none" cap="none" strike="noStrike">
                <a:solidFill>
                  <a:schemeClr val="dk1"/>
                </a:solidFill>
                <a:latin typeface="Arial"/>
                <a:ea typeface="Arial"/>
                <a:cs typeface="Arial"/>
                <a:sym typeface="Arial"/>
              </a:defRPr>
            </a:lvl8pPr>
            <a:lvl9pPr indent="0" lvl="8" marL="0" marR="0" rtl="0" algn="l">
              <a:spcBef>
                <a:spcPts val="0"/>
              </a:spcBef>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 name="Shape 3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3" name="Shape 33"/>
        <p:cNvGrpSpPr/>
        <p:nvPr/>
      </p:nvGrpSpPr>
      <p:grpSpPr>
        <a:xfrm>
          <a:off x="0" y="0"/>
          <a:ext cx="0" cy="0"/>
          <a:chOff x="0" y="0"/>
          <a:chExt cx="0" cy="0"/>
        </a:xfrm>
      </p:grpSpPr>
      <p:sp>
        <p:nvSpPr>
          <p:cNvPr id="34" name="Google Shape;34;p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6" name="Shape 36"/>
        <p:cNvGrpSpPr/>
        <p:nvPr/>
      </p:nvGrpSpPr>
      <p:grpSpPr>
        <a:xfrm>
          <a:off x="0" y="0"/>
          <a:ext cx="0" cy="0"/>
          <a:chOff x="0" y="0"/>
          <a:chExt cx="0" cy="0"/>
        </a:xfrm>
      </p:grpSpPr>
      <p:sp>
        <p:nvSpPr>
          <p:cNvPr id="37" name="Google Shape;37;p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body"/>
          </p:nvPr>
        </p:nvSpPr>
        <p:spPr>
          <a:xfrm>
            <a:off x="609480" y="1604520"/>
            <a:ext cx="1097244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9" name="Shape 39"/>
        <p:cNvGrpSpPr/>
        <p:nvPr/>
      </p:nvGrpSpPr>
      <p:grpSpPr>
        <a:xfrm>
          <a:off x="0" y="0"/>
          <a:ext cx="0" cy="0"/>
          <a:chOff x="0" y="0"/>
          <a:chExt cx="0" cy="0"/>
        </a:xfrm>
      </p:grpSpPr>
      <p:sp>
        <p:nvSpPr>
          <p:cNvPr id="40" name="Google Shape;40;p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60948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2" type="body"/>
          </p:nvPr>
        </p:nvSpPr>
        <p:spPr>
          <a:xfrm>
            <a:off x="623196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5" name="Shape 45"/>
        <p:cNvGrpSpPr/>
        <p:nvPr/>
      </p:nvGrpSpPr>
      <p:grpSpPr>
        <a:xfrm>
          <a:off x="0" y="0"/>
          <a:ext cx="0" cy="0"/>
          <a:chOff x="0" y="0"/>
          <a:chExt cx="0" cy="0"/>
        </a:xfrm>
      </p:grpSpPr>
      <p:sp>
        <p:nvSpPr>
          <p:cNvPr id="46" name="Google Shape;46;p8"/>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7" name="Shape 47"/>
        <p:cNvGrpSpPr/>
        <p:nvPr/>
      </p:nvGrpSpPr>
      <p:grpSpPr>
        <a:xfrm>
          <a:off x="0" y="0"/>
          <a:ext cx="0" cy="0"/>
          <a:chOff x="0" y="0"/>
          <a:chExt cx="0" cy="0"/>
        </a:xfrm>
      </p:grpSpPr>
      <p:sp>
        <p:nvSpPr>
          <p:cNvPr id="48" name="Google Shape;48;p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9"/>
          <p:cNvSpPr txBox="1"/>
          <p:nvPr>
            <p:ph idx="1" type="body"/>
          </p:nvPr>
        </p:nvSpPr>
        <p:spPr>
          <a:xfrm>
            <a:off x="60948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9"/>
          <p:cNvSpPr txBox="1"/>
          <p:nvPr>
            <p:ph idx="2" type="body"/>
          </p:nvPr>
        </p:nvSpPr>
        <p:spPr>
          <a:xfrm>
            <a:off x="623196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9"/>
          <p:cNvSpPr txBox="1"/>
          <p:nvPr>
            <p:ph idx="3" type="body"/>
          </p:nvPr>
        </p:nvSpPr>
        <p:spPr>
          <a:xfrm>
            <a:off x="60948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2" name="Shape 52"/>
        <p:cNvGrpSpPr/>
        <p:nvPr/>
      </p:nvGrpSpPr>
      <p:grpSpPr>
        <a:xfrm>
          <a:off x="0" y="0"/>
          <a:ext cx="0" cy="0"/>
          <a:chOff x="0" y="0"/>
          <a:chExt cx="0" cy="0"/>
        </a:xfrm>
      </p:grpSpPr>
      <p:sp>
        <p:nvSpPr>
          <p:cNvPr id="53" name="Google Shape;53;p1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0"/>
          <p:cNvSpPr txBox="1"/>
          <p:nvPr>
            <p:ph idx="1" type="body"/>
          </p:nvPr>
        </p:nvSpPr>
        <p:spPr>
          <a:xfrm>
            <a:off x="60948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0"/>
          <p:cNvSpPr txBox="1"/>
          <p:nvPr>
            <p:ph idx="2" type="body"/>
          </p:nvPr>
        </p:nvSpPr>
        <p:spPr>
          <a:xfrm>
            <a:off x="623196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0"/>
          <p:cNvSpPr txBox="1"/>
          <p:nvPr>
            <p:ph idx="3" type="body"/>
          </p:nvPr>
        </p:nvSpPr>
        <p:spPr>
          <a:xfrm>
            <a:off x="623196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7" name="Shape 57"/>
        <p:cNvGrpSpPr/>
        <p:nvPr/>
      </p:nvGrpSpPr>
      <p:grpSpPr>
        <a:xfrm>
          <a:off x="0" y="0"/>
          <a:ext cx="0" cy="0"/>
          <a:chOff x="0" y="0"/>
          <a:chExt cx="0" cy="0"/>
        </a:xfrm>
      </p:grpSpPr>
      <p:sp>
        <p:nvSpPr>
          <p:cNvPr id="58" name="Google Shape;58;p1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1"/>
          <p:cNvSpPr txBox="1"/>
          <p:nvPr>
            <p:ph idx="1" type="body"/>
          </p:nvPr>
        </p:nvSpPr>
        <p:spPr>
          <a:xfrm>
            <a:off x="60948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1"/>
          <p:cNvSpPr txBox="1"/>
          <p:nvPr>
            <p:ph idx="2" type="body"/>
          </p:nvPr>
        </p:nvSpPr>
        <p:spPr>
          <a:xfrm>
            <a:off x="623196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1"/>
          <p:cNvSpPr txBox="1"/>
          <p:nvPr>
            <p:ph idx="3" type="body"/>
          </p:nvPr>
        </p:nvSpPr>
        <p:spPr>
          <a:xfrm>
            <a:off x="609480" y="3682080"/>
            <a:ext cx="109724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2" name="Shape 62"/>
        <p:cNvGrpSpPr/>
        <p:nvPr/>
      </p:nvGrpSpPr>
      <p:grpSpPr>
        <a:xfrm>
          <a:off x="0" y="0"/>
          <a:ext cx="0" cy="0"/>
          <a:chOff x="0" y="0"/>
          <a:chExt cx="0" cy="0"/>
        </a:xfrm>
      </p:grpSpPr>
      <p:sp>
        <p:nvSpPr>
          <p:cNvPr id="63" name="Google Shape;63;p1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2"/>
          <p:cNvSpPr txBox="1"/>
          <p:nvPr>
            <p:ph idx="1" type="body"/>
          </p:nvPr>
        </p:nvSpPr>
        <p:spPr>
          <a:xfrm>
            <a:off x="609480" y="1604520"/>
            <a:ext cx="109724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2"/>
          <p:cNvSpPr txBox="1"/>
          <p:nvPr>
            <p:ph idx="2" type="body"/>
          </p:nvPr>
        </p:nvSpPr>
        <p:spPr>
          <a:xfrm>
            <a:off x="609480" y="3682080"/>
            <a:ext cx="109724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6" name="Shape 66"/>
        <p:cNvGrpSpPr/>
        <p:nvPr/>
      </p:nvGrpSpPr>
      <p:grpSpPr>
        <a:xfrm>
          <a:off x="0" y="0"/>
          <a:ext cx="0" cy="0"/>
          <a:chOff x="0" y="0"/>
          <a:chExt cx="0" cy="0"/>
        </a:xfrm>
      </p:grpSpPr>
      <p:sp>
        <p:nvSpPr>
          <p:cNvPr id="67" name="Google Shape;67;p1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3"/>
          <p:cNvSpPr txBox="1"/>
          <p:nvPr>
            <p:ph idx="1" type="body"/>
          </p:nvPr>
        </p:nvSpPr>
        <p:spPr>
          <a:xfrm>
            <a:off x="60948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3"/>
          <p:cNvSpPr txBox="1"/>
          <p:nvPr>
            <p:ph idx="2" type="body"/>
          </p:nvPr>
        </p:nvSpPr>
        <p:spPr>
          <a:xfrm>
            <a:off x="623196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3"/>
          <p:cNvSpPr txBox="1"/>
          <p:nvPr>
            <p:ph idx="3" type="body"/>
          </p:nvPr>
        </p:nvSpPr>
        <p:spPr>
          <a:xfrm>
            <a:off x="60948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3"/>
          <p:cNvSpPr txBox="1"/>
          <p:nvPr>
            <p:ph idx="4" type="body"/>
          </p:nvPr>
        </p:nvSpPr>
        <p:spPr>
          <a:xfrm>
            <a:off x="623196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2" name="Shape 72"/>
        <p:cNvGrpSpPr/>
        <p:nvPr/>
      </p:nvGrpSpPr>
      <p:grpSpPr>
        <a:xfrm>
          <a:off x="0" y="0"/>
          <a:ext cx="0" cy="0"/>
          <a:chOff x="0" y="0"/>
          <a:chExt cx="0" cy="0"/>
        </a:xfrm>
      </p:grpSpPr>
      <p:sp>
        <p:nvSpPr>
          <p:cNvPr id="73" name="Google Shape;73;p1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4"/>
          <p:cNvSpPr txBox="1"/>
          <p:nvPr>
            <p:ph idx="1" type="body"/>
          </p:nvPr>
        </p:nvSpPr>
        <p:spPr>
          <a:xfrm>
            <a:off x="609480" y="160452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4"/>
          <p:cNvSpPr txBox="1"/>
          <p:nvPr>
            <p:ph idx="2" type="body"/>
          </p:nvPr>
        </p:nvSpPr>
        <p:spPr>
          <a:xfrm>
            <a:off x="4319640" y="160452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4"/>
          <p:cNvSpPr txBox="1"/>
          <p:nvPr>
            <p:ph idx="3" type="body"/>
          </p:nvPr>
        </p:nvSpPr>
        <p:spPr>
          <a:xfrm>
            <a:off x="8029800" y="160452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4"/>
          <p:cNvSpPr txBox="1"/>
          <p:nvPr>
            <p:ph idx="4" type="body"/>
          </p:nvPr>
        </p:nvSpPr>
        <p:spPr>
          <a:xfrm>
            <a:off x="609480" y="368208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4"/>
          <p:cNvSpPr txBox="1"/>
          <p:nvPr>
            <p:ph idx="5" type="body"/>
          </p:nvPr>
        </p:nvSpPr>
        <p:spPr>
          <a:xfrm>
            <a:off x="4319640" y="368208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4"/>
          <p:cNvSpPr txBox="1"/>
          <p:nvPr>
            <p:ph idx="6" type="body"/>
          </p:nvPr>
        </p:nvSpPr>
        <p:spPr>
          <a:xfrm>
            <a:off x="8029800" y="368208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7" name="Shape 97"/>
        <p:cNvGrpSpPr/>
        <p:nvPr/>
      </p:nvGrpSpPr>
      <p:grpSpPr>
        <a:xfrm>
          <a:off x="0" y="0"/>
          <a:ext cx="0" cy="0"/>
          <a:chOff x="0" y="0"/>
          <a:chExt cx="0" cy="0"/>
        </a:xfrm>
      </p:grpSpPr>
      <p:grpSp>
        <p:nvGrpSpPr>
          <p:cNvPr id="98" name="Google Shape;98;p16"/>
          <p:cNvGrpSpPr/>
          <p:nvPr/>
        </p:nvGrpSpPr>
        <p:grpSpPr>
          <a:xfrm>
            <a:off x="2778517" y="6550672"/>
            <a:ext cx="9413483" cy="48665"/>
            <a:chOff x="2083888" y="6550671"/>
            <a:chExt cx="7060112" cy="48665"/>
          </a:xfrm>
        </p:grpSpPr>
        <p:sp>
          <p:nvSpPr>
            <p:cNvPr id="99" name="Google Shape;99;p16"/>
            <p:cNvSpPr/>
            <p:nvPr/>
          </p:nvSpPr>
          <p:spPr>
            <a:xfrm>
              <a:off x="4630476" y="6550672"/>
              <a:ext cx="2328591" cy="48664"/>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16"/>
            <p:cNvSpPr/>
            <p:nvPr/>
          </p:nvSpPr>
          <p:spPr>
            <a:xfrm>
              <a:off x="6907874" y="6550671"/>
              <a:ext cx="2236126" cy="45719"/>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 name="Google Shape;101;p16"/>
            <p:cNvSpPr/>
            <p:nvPr/>
          </p:nvSpPr>
          <p:spPr>
            <a:xfrm>
              <a:off x="2083888" y="6550672"/>
              <a:ext cx="2580680" cy="48664"/>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Picture 7.png" id="102" name="Google Shape;102;p16"/>
          <p:cNvPicPr preferRelativeResize="0"/>
          <p:nvPr/>
        </p:nvPicPr>
        <p:blipFill rotWithShape="1">
          <a:blip r:embed="rId2">
            <a:alphaModFix/>
          </a:blip>
          <a:srcRect b="5336" l="1923" r="0" t="0"/>
          <a:stretch/>
        </p:blipFill>
        <p:spPr>
          <a:xfrm>
            <a:off x="8839201" y="-1"/>
            <a:ext cx="2924257" cy="692697"/>
          </a:xfrm>
          <a:prstGeom prst="rect">
            <a:avLst/>
          </a:prstGeom>
          <a:noFill/>
          <a:ln>
            <a:noFill/>
          </a:ln>
        </p:spPr>
      </p:pic>
      <p:grpSp>
        <p:nvGrpSpPr>
          <p:cNvPr id="103" name="Google Shape;103;p16"/>
          <p:cNvGrpSpPr/>
          <p:nvPr/>
        </p:nvGrpSpPr>
        <p:grpSpPr>
          <a:xfrm>
            <a:off x="2844800" y="6553201"/>
            <a:ext cx="9347201" cy="45719"/>
            <a:chOff x="1905000" y="6553200"/>
            <a:chExt cx="7010400" cy="45719"/>
          </a:xfrm>
        </p:grpSpPr>
        <p:sp>
          <p:nvSpPr>
            <p:cNvPr id="104" name="Google Shape;104;p16"/>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 name="Google Shape;105;p1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16"/>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07" name="Google Shape;107;p16"/>
          <p:cNvGrpSpPr/>
          <p:nvPr/>
        </p:nvGrpSpPr>
        <p:grpSpPr>
          <a:xfrm>
            <a:off x="0" y="1295401"/>
            <a:ext cx="9347201" cy="45719"/>
            <a:chOff x="1905000" y="6553200"/>
            <a:chExt cx="7010400" cy="45719"/>
          </a:xfrm>
        </p:grpSpPr>
        <p:sp>
          <p:nvSpPr>
            <p:cNvPr id="108" name="Google Shape;108;p16"/>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 name="Google Shape;109;p1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16"/>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11" name="Google Shape;111;p16"/>
          <p:cNvSpPr txBox="1"/>
          <p:nvPr>
            <p:ph idx="1" type="body"/>
          </p:nvPr>
        </p:nvSpPr>
        <p:spPr>
          <a:xfrm>
            <a:off x="406400" y="152400"/>
            <a:ext cx="8432800" cy="11430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6"/>
          <p:cNvSpPr txBox="1"/>
          <p:nvPr>
            <p:ph idx="11" type="ftr"/>
          </p:nvPr>
        </p:nvSpPr>
        <p:spPr>
          <a:xfrm>
            <a:off x="0" y="6554056"/>
            <a:ext cx="12192000" cy="303943"/>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4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3" name="Google Shape;113;p16"/>
          <p:cNvSpPr txBox="1"/>
          <p:nvPr>
            <p:ph idx="12" type="sldNum"/>
          </p:nvPr>
        </p:nvSpPr>
        <p:spPr>
          <a:xfrm>
            <a:off x="11815" y="6554055"/>
            <a:ext cx="12180184" cy="26161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4" name="Shape 114"/>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5" name="Shape 115"/>
        <p:cNvGrpSpPr/>
        <p:nvPr/>
      </p:nvGrpSpPr>
      <p:grpSpPr>
        <a:xfrm>
          <a:off x="0" y="0"/>
          <a:ext cx="0" cy="0"/>
          <a:chOff x="0" y="0"/>
          <a:chExt cx="0" cy="0"/>
        </a:xfrm>
      </p:grpSpPr>
      <p:sp>
        <p:nvSpPr>
          <p:cNvPr id="116" name="Google Shape;116;p1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8"/>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18" name="Shape 118"/>
        <p:cNvGrpSpPr/>
        <p:nvPr/>
      </p:nvGrpSpPr>
      <p:grpSpPr>
        <a:xfrm>
          <a:off x="0" y="0"/>
          <a:ext cx="0" cy="0"/>
          <a:chOff x="0" y="0"/>
          <a:chExt cx="0" cy="0"/>
        </a:xfrm>
      </p:grpSpPr>
      <p:sp>
        <p:nvSpPr>
          <p:cNvPr id="119" name="Google Shape;119;p1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19"/>
          <p:cNvSpPr txBox="1"/>
          <p:nvPr>
            <p:ph idx="1" type="body"/>
          </p:nvPr>
        </p:nvSpPr>
        <p:spPr>
          <a:xfrm>
            <a:off x="609480" y="1604520"/>
            <a:ext cx="1097244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1" name="Shape 121"/>
        <p:cNvGrpSpPr/>
        <p:nvPr/>
      </p:nvGrpSpPr>
      <p:grpSpPr>
        <a:xfrm>
          <a:off x="0" y="0"/>
          <a:ext cx="0" cy="0"/>
          <a:chOff x="0" y="0"/>
          <a:chExt cx="0" cy="0"/>
        </a:xfrm>
      </p:grpSpPr>
      <p:sp>
        <p:nvSpPr>
          <p:cNvPr id="122" name="Google Shape;122;p2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20"/>
          <p:cNvSpPr txBox="1"/>
          <p:nvPr>
            <p:ph idx="1" type="body"/>
          </p:nvPr>
        </p:nvSpPr>
        <p:spPr>
          <a:xfrm>
            <a:off x="60948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20"/>
          <p:cNvSpPr txBox="1"/>
          <p:nvPr>
            <p:ph idx="2" type="body"/>
          </p:nvPr>
        </p:nvSpPr>
        <p:spPr>
          <a:xfrm>
            <a:off x="623196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2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27" name="Shape 127"/>
        <p:cNvGrpSpPr/>
        <p:nvPr/>
      </p:nvGrpSpPr>
      <p:grpSpPr>
        <a:xfrm>
          <a:off x="0" y="0"/>
          <a:ext cx="0" cy="0"/>
          <a:chOff x="0" y="0"/>
          <a:chExt cx="0" cy="0"/>
        </a:xfrm>
      </p:grpSpPr>
      <p:sp>
        <p:nvSpPr>
          <p:cNvPr id="128" name="Google Shape;128;p22"/>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29" name="Shape 129"/>
        <p:cNvGrpSpPr/>
        <p:nvPr/>
      </p:nvGrpSpPr>
      <p:grpSpPr>
        <a:xfrm>
          <a:off x="0" y="0"/>
          <a:ext cx="0" cy="0"/>
          <a:chOff x="0" y="0"/>
          <a:chExt cx="0" cy="0"/>
        </a:xfrm>
      </p:grpSpPr>
      <p:sp>
        <p:nvSpPr>
          <p:cNvPr id="130" name="Google Shape;130;p2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3"/>
          <p:cNvSpPr txBox="1"/>
          <p:nvPr>
            <p:ph idx="1" type="body"/>
          </p:nvPr>
        </p:nvSpPr>
        <p:spPr>
          <a:xfrm>
            <a:off x="60948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23"/>
          <p:cNvSpPr txBox="1"/>
          <p:nvPr>
            <p:ph idx="2" type="body"/>
          </p:nvPr>
        </p:nvSpPr>
        <p:spPr>
          <a:xfrm>
            <a:off x="623196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23"/>
          <p:cNvSpPr txBox="1"/>
          <p:nvPr>
            <p:ph idx="3" type="body"/>
          </p:nvPr>
        </p:nvSpPr>
        <p:spPr>
          <a:xfrm>
            <a:off x="60948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34" name="Shape 134"/>
        <p:cNvGrpSpPr/>
        <p:nvPr/>
      </p:nvGrpSpPr>
      <p:grpSpPr>
        <a:xfrm>
          <a:off x="0" y="0"/>
          <a:ext cx="0" cy="0"/>
          <a:chOff x="0" y="0"/>
          <a:chExt cx="0" cy="0"/>
        </a:xfrm>
      </p:grpSpPr>
      <p:sp>
        <p:nvSpPr>
          <p:cNvPr id="135" name="Google Shape;135;p2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24"/>
          <p:cNvSpPr txBox="1"/>
          <p:nvPr>
            <p:ph idx="1" type="body"/>
          </p:nvPr>
        </p:nvSpPr>
        <p:spPr>
          <a:xfrm>
            <a:off x="609480" y="1604520"/>
            <a:ext cx="5354280" cy="397728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24"/>
          <p:cNvSpPr txBox="1"/>
          <p:nvPr>
            <p:ph idx="2" type="body"/>
          </p:nvPr>
        </p:nvSpPr>
        <p:spPr>
          <a:xfrm>
            <a:off x="623196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24"/>
          <p:cNvSpPr txBox="1"/>
          <p:nvPr>
            <p:ph idx="3" type="body"/>
          </p:nvPr>
        </p:nvSpPr>
        <p:spPr>
          <a:xfrm>
            <a:off x="623196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39" name="Shape 139"/>
        <p:cNvGrpSpPr/>
        <p:nvPr/>
      </p:nvGrpSpPr>
      <p:grpSpPr>
        <a:xfrm>
          <a:off x="0" y="0"/>
          <a:ext cx="0" cy="0"/>
          <a:chOff x="0" y="0"/>
          <a:chExt cx="0" cy="0"/>
        </a:xfrm>
      </p:grpSpPr>
      <p:sp>
        <p:nvSpPr>
          <p:cNvPr id="140" name="Google Shape;140;p2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5"/>
          <p:cNvSpPr txBox="1"/>
          <p:nvPr>
            <p:ph idx="1" type="body"/>
          </p:nvPr>
        </p:nvSpPr>
        <p:spPr>
          <a:xfrm>
            <a:off x="60948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25"/>
          <p:cNvSpPr txBox="1"/>
          <p:nvPr>
            <p:ph idx="2" type="body"/>
          </p:nvPr>
        </p:nvSpPr>
        <p:spPr>
          <a:xfrm>
            <a:off x="623196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25"/>
          <p:cNvSpPr txBox="1"/>
          <p:nvPr>
            <p:ph idx="3" type="body"/>
          </p:nvPr>
        </p:nvSpPr>
        <p:spPr>
          <a:xfrm>
            <a:off x="609480" y="3682080"/>
            <a:ext cx="109724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44" name="Shape 144"/>
        <p:cNvGrpSpPr/>
        <p:nvPr/>
      </p:nvGrpSpPr>
      <p:grpSpPr>
        <a:xfrm>
          <a:off x="0" y="0"/>
          <a:ext cx="0" cy="0"/>
          <a:chOff x="0" y="0"/>
          <a:chExt cx="0" cy="0"/>
        </a:xfrm>
      </p:grpSpPr>
      <p:sp>
        <p:nvSpPr>
          <p:cNvPr id="145" name="Google Shape;145;p2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6"/>
          <p:cNvSpPr txBox="1"/>
          <p:nvPr>
            <p:ph idx="1" type="body"/>
          </p:nvPr>
        </p:nvSpPr>
        <p:spPr>
          <a:xfrm>
            <a:off x="609480" y="1604520"/>
            <a:ext cx="109724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26"/>
          <p:cNvSpPr txBox="1"/>
          <p:nvPr>
            <p:ph idx="2" type="body"/>
          </p:nvPr>
        </p:nvSpPr>
        <p:spPr>
          <a:xfrm>
            <a:off x="609480" y="3682080"/>
            <a:ext cx="109724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48" name="Shape 148"/>
        <p:cNvGrpSpPr/>
        <p:nvPr/>
      </p:nvGrpSpPr>
      <p:grpSpPr>
        <a:xfrm>
          <a:off x="0" y="0"/>
          <a:ext cx="0" cy="0"/>
          <a:chOff x="0" y="0"/>
          <a:chExt cx="0" cy="0"/>
        </a:xfrm>
      </p:grpSpPr>
      <p:sp>
        <p:nvSpPr>
          <p:cNvPr id="149" name="Google Shape;149;p2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27"/>
          <p:cNvSpPr txBox="1"/>
          <p:nvPr>
            <p:ph idx="1" type="body"/>
          </p:nvPr>
        </p:nvSpPr>
        <p:spPr>
          <a:xfrm>
            <a:off x="60948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27"/>
          <p:cNvSpPr txBox="1"/>
          <p:nvPr>
            <p:ph idx="2" type="body"/>
          </p:nvPr>
        </p:nvSpPr>
        <p:spPr>
          <a:xfrm>
            <a:off x="6231960" y="160452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27"/>
          <p:cNvSpPr txBox="1"/>
          <p:nvPr>
            <p:ph idx="3" type="body"/>
          </p:nvPr>
        </p:nvSpPr>
        <p:spPr>
          <a:xfrm>
            <a:off x="60948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27"/>
          <p:cNvSpPr txBox="1"/>
          <p:nvPr>
            <p:ph idx="4" type="body"/>
          </p:nvPr>
        </p:nvSpPr>
        <p:spPr>
          <a:xfrm>
            <a:off x="6231960" y="3682080"/>
            <a:ext cx="535428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54" name="Shape 154"/>
        <p:cNvGrpSpPr/>
        <p:nvPr/>
      </p:nvGrpSpPr>
      <p:grpSpPr>
        <a:xfrm>
          <a:off x="0" y="0"/>
          <a:ext cx="0" cy="0"/>
          <a:chOff x="0" y="0"/>
          <a:chExt cx="0" cy="0"/>
        </a:xfrm>
      </p:grpSpPr>
      <p:sp>
        <p:nvSpPr>
          <p:cNvPr id="155" name="Google Shape;155;p2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8"/>
          <p:cNvSpPr txBox="1"/>
          <p:nvPr>
            <p:ph idx="1" type="body"/>
          </p:nvPr>
        </p:nvSpPr>
        <p:spPr>
          <a:xfrm>
            <a:off x="609480" y="160452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28"/>
          <p:cNvSpPr txBox="1"/>
          <p:nvPr>
            <p:ph idx="2" type="body"/>
          </p:nvPr>
        </p:nvSpPr>
        <p:spPr>
          <a:xfrm>
            <a:off x="4319640" y="160452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28"/>
          <p:cNvSpPr txBox="1"/>
          <p:nvPr>
            <p:ph idx="3" type="body"/>
          </p:nvPr>
        </p:nvSpPr>
        <p:spPr>
          <a:xfrm>
            <a:off x="8029800" y="160452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28"/>
          <p:cNvSpPr txBox="1"/>
          <p:nvPr>
            <p:ph idx="4" type="body"/>
          </p:nvPr>
        </p:nvSpPr>
        <p:spPr>
          <a:xfrm>
            <a:off x="609480" y="368208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28"/>
          <p:cNvSpPr txBox="1"/>
          <p:nvPr>
            <p:ph idx="5" type="body"/>
          </p:nvPr>
        </p:nvSpPr>
        <p:spPr>
          <a:xfrm>
            <a:off x="4319640" y="368208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28"/>
          <p:cNvSpPr txBox="1"/>
          <p:nvPr>
            <p:ph idx="6" type="body"/>
          </p:nvPr>
        </p:nvSpPr>
        <p:spPr>
          <a:xfrm>
            <a:off x="8029800" y="3682080"/>
            <a:ext cx="3533040" cy="189684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62" name="Shape 162"/>
        <p:cNvGrpSpPr/>
        <p:nvPr/>
      </p:nvGrpSpPr>
      <p:grpSpPr>
        <a:xfrm>
          <a:off x="0" y="0"/>
          <a:ext cx="0" cy="0"/>
          <a:chOff x="0" y="0"/>
          <a:chExt cx="0" cy="0"/>
        </a:xfrm>
      </p:grpSpPr>
      <p:sp>
        <p:nvSpPr>
          <p:cNvPr id="163" name="Google Shape;163;p2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6" Type="http://schemas.openxmlformats.org/officeDocument/2006/relationships/theme" Target="../theme/theme2.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p:nvPr/>
        </p:nvSpPr>
        <p:spPr>
          <a:xfrm>
            <a:off x="0" y="3352680"/>
            <a:ext cx="11581200" cy="2742120"/>
          </a:xfrm>
          <a:prstGeom prst="rect">
            <a:avLst/>
          </a:prstGeom>
          <a:solidFill>
            <a:srgbClr val="101141"/>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3860640" y="6095880"/>
            <a:ext cx="3859560" cy="75240"/>
          </a:xfrm>
          <a:prstGeom prst="rect">
            <a:avLst/>
          </a:prstGeom>
          <a:solidFill>
            <a:srgbClr val="76C2E5"/>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0" y="6095880"/>
            <a:ext cx="3859560" cy="75240"/>
          </a:xfrm>
          <a:prstGeom prst="rect">
            <a:avLst/>
          </a:prstGeom>
          <a:solidFill>
            <a:srgbClr val="FCB017"/>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7721640" y="6095880"/>
            <a:ext cx="3859560" cy="75240"/>
          </a:xfrm>
          <a:prstGeom prst="rect">
            <a:avLst/>
          </a:prstGeom>
          <a:solidFill>
            <a:srgbClr val="FF0000"/>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 name="Google Shape;14;p1"/>
          <p:cNvPicPr preferRelativeResize="0"/>
          <p:nvPr/>
        </p:nvPicPr>
        <p:blipFill rotWithShape="1">
          <a:blip r:embed="rId2">
            <a:alphaModFix/>
          </a:blip>
          <a:srcRect b="28589" l="0" r="0" t="0"/>
          <a:stretch/>
        </p:blipFill>
        <p:spPr>
          <a:xfrm>
            <a:off x="101520" y="3352680"/>
            <a:ext cx="2742120" cy="1978920"/>
          </a:xfrm>
          <a:prstGeom prst="rect">
            <a:avLst/>
          </a:prstGeom>
          <a:noFill/>
          <a:ln>
            <a:noFill/>
          </a:ln>
        </p:spPr>
      </p:pic>
      <p:sp>
        <p:nvSpPr>
          <p:cNvPr id="15" name="Google Shape;15;p1"/>
          <p:cNvSpPr/>
          <p:nvPr/>
        </p:nvSpPr>
        <p:spPr>
          <a:xfrm>
            <a:off x="-101520" y="5257800"/>
            <a:ext cx="2945160" cy="53136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i="0" lang="en-IN" sz="2900" u="none" cap="none" strike="noStrike">
                <a:solidFill>
                  <a:srgbClr val="FFFFFF"/>
                </a:solidFill>
                <a:latin typeface="Arial"/>
                <a:ea typeface="Arial"/>
                <a:cs typeface="Arial"/>
                <a:sym typeface="Arial"/>
              </a:rPr>
              <a:t>BITS</a:t>
            </a:r>
            <a:r>
              <a:rPr b="0" i="0" lang="en-IN" sz="2900" u="none" cap="none" strike="noStrike">
                <a:solidFill>
                  <a:srgbClr val="FFFFFF"/>
                </a:solidFill>
                <a:latin typeface="Arial"/>
                <a:ea typeface="Arial"/>
                <a:cs typeface="Arial"/>
                <a:sym typeface="Arial"/>
              </a:rPr>
              <a:t> Pilani</a:t>
            </a:r>
            <a:endParaRPr b="0" i="0" sz="2900" u="none" cap="none" strike="noStrike">
              <a:solidFill>
                <a:schemeClr val="dk1"/>
              </a:solidFill>
              <a:latin typeface="Arial"/>
              <a:ea typeface="Arial"/>
              <a:cs typeface="Arial"/>
              <a:sym typeface="Arial"/>
            </a:endParaRPr>
          </a:p>
        </p:txBody>
      </p:sp>
      <p:sp>
        <p:nvSpPr>
          <p:cNvPr id="16" name="Google Shape;16;p1"/>
          <p:cNvSpPr/>
          <p:nvPr/>
        </p:nvSpPr>
        <p:spPr>
          <a:xfrm>
            <a:off x="203040" y="5666760"/>
            <a:ext cx="2539080" cy="2721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200" u="none" cap="none" strike="noStrike">
                <a:solidFill>
                  <a:srgbClr val="FFFFFF"/>
                </a:solidFill>
                <a:latin typeface="Arial"/>
                <a:ea typeface="Arial"/>
                <a:cs typeface="Arial"/>
                <a:sym typeface="Arial"/>
              </a:rPr>
              <a:t>Pilani Campus</a:t>
            </a:r>
            <a:endParaRPr b="0" i="0" sz="1200" u="none" cap="none" strike="noStrike">
              <a:solidFill>
                <a:schemeClr val="dk1"/>
              </a:solidFill>
              <a:latin typeface="Arial"/>
              <a:ea typeface="Arial"/>
              <a:cs typeface="Arial"/>
              <a:sym typeface="Arial"/>
            </a:endParaRPr>
          </a:p>
        </p:txBody>
      </p:sp>
      <p:sp>
        <p:nvSpPr>
          <p:cNvPr id="17" name="Google Shape;17;p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5"/>
          <p:cNvSpPr/>
          <p:nvPr/>
        </p:nvSpPr>
        <p:spPr>
          <a:xfrm>
            <a:off x="4368960" y="6596280"/>
            <a:ext cx="7822080" cy="257040"/>
          </a:xfrm>
          <a:prstGeom prst="rect">
            <a:avLst/>
          </a:prstGeom>
          <a:noFill/>
          <a:ln>
            <a:noFill/>
          </a:ln>
        </p:spPr>
        <p:txBody>
          <a:bodyPr anchorCtr="0" anchor="t" bIns="45000" lIns="90000" spcFirstLastPara="1" rIns="90000" wrap="square" tIns="45000">
            <a:noAutofit/>
          </a:bodyPr>
          <a:lstStyle/>
          <a:p>
            <a:pPr indent="0" lvl="0" marL="0" marR="0" rtl="0" algn="r">
              <a:lnSpc>
                <a:spcPct val="100000"/>
              </a:lnSpc>
              <a:spcBef>
                <a:spcPts val="0"/>
              </a:spcBef>
              <a:spcAft>
                <a:spcPts val="0"/>
              </a:spcAft>
              <a:buNone/>
            </a:pPr>
            <a:r>
              <a:rPr b="1" lang="en-IN" sz="1100" strike="noStrike">
                <a:solidFill>
                  <a:srgbClr val="101141"/>
                </a:solidFill>
                <a:latin typeface="Arial"/>
                <a:ea typeface="Arial"/>
                <a:cs typeface="Arial"/>
                <a:sym typeface="Arial"/>
              </a:rPr>
              <a:t>BITS </a:t>
            </a:r>
            <a:r>
              <a:rPr b="0" lang="en-IN" sz="1100" strike="noStrike">
                <a:solidFill>
                  <a:srgbClr val="101141"/>
                </a:solidFill>
                <a:latin typeface="Arial"/>
                <a:ea typeface="Arial"/>
                <a:cs typeface="Arial"/>
                <a:sym typeface="Arial"/>
              </a:rPr>
              <a:t>Pilani, Pilani Campus</a:t>
            </a:r>
            <a:endParaRPr b="0" sz="1100" strike="noStrike">
              <a:solidFill>
                <a:schemeClr val="dk1"/>
              </a:solidFill>
              <a:latin typeface="Arial"/>
              <a:ea typeface="Arial"/>
              <a:cs typeface="Arial"/>
              <a:sym typeface="Arial"/>
            </a:endParaRPr>
          </a:p>
        </p:txBody>
      </p:sp>
      <p:grpSp>
        <p:nvGrpSpPr>
          <p:cNvPr id="82" name="Google Shape;82;p15"/>
          <p:cNvGrpSpPr/>
          <p:nvPr/>
        </p:nvGrpSpPr>
        <p:grpSpPr>
          <a:xfrm>
            <a:off x="2778480" y="6550560"/>
            <a:ext cx="9412560" cy="47520"/>
            <a:chOff x="2778480" y="6550560"/>
            <a:chExt cx="9412560" cy="47520"/>
          </a:xfrm>
        </p:grpSpPr>
        <p:sp>
          <p:nvSpPr>
            <p:cNvPr id="83" name="Google Shape;83;p15"/>
            <p:cNvSpPr/>
            <p:nvPr/>
          </p:nvSpPr>
          <p:spPr>
            <a:xfrm>
              <a:off x="6174000" y="6550560"/>
              <a:ext cx="3103560" cy="47520"/>
            </a:xfrm>
            <a:prstGeom prst="rect">
              <a:avLst/>
            </a:prstGeom>
            <a:solidFill>
              <a:srgbClr val="76C2E5"/>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9210600" y="6550560"/>
              <a:ext cx="2980440" cy="44640"/>
            </a:xfrm>
            <a:prstGeom prst="rect">
              <a:avLst/>
            </a:prstGeom>
            <a:solidFill>
              <a:srgbClr val="E31C24"/>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2778480" y="6550560"/>
              <a:ext cx="3439800" cy="47520"/>
            </a:xfrm>
            <a:prstGeom prst="rect">
              <a:avLst/>
            </a:prstGeom>
            <a:solidFill>
              <a:srgbClr val="FCB017"/>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6" name="Google Shape;86;p15"/>
          <p:cNvPicPr preferRelativeResize="0"/>
          <p:nvPr/>
        </p:nvPicPr>
        <p:blipFill rotWithShape="1">
          <a:blip r:embed="rId1">
            <a:alphaModFix/>
          </a:blip>
          <a:srcRect b="5315" l="1916" r="0" t="0"/>
          <a:stretch/>
        </p:blipFill>
        <p:spPr>
          <a:xfrm>
            <a:off x="8839080" y="0"/>
            <a:ext cx="2923200" cy="691560"/>
          </a:xfrm>
          <a:prstGeom prst="rect">
            <a:avLst/>
          </a:prstGeom>
          <a:noFill/>
          <a:ln>
            <a:noFill/>
          </a:ln>
        </p:spPr>
      </p:pic>
      <p:grpSp>
        <p:nvGrpSpPr>
          <p:cNvPr id="87" name="Google Shape;87;p15"/>
          <p:cNvGrpSpPr/>
          <p:nvPr/>
        </p:nvGrpSpPr>
        <p:grpSpPr>
          <a:xfrm>
            <a:off x="2844720" y="6553080"/>
            <a:ext cx="9345960" cy="44640"/>
            <a:chOff x="2844720" y="6553080"/>
            <a:chExt cx="9345960" cy="44640"/>
          </a:xfrm>
        </p:grpSpPr>
        <p:sp>
          <p:nvSpPr>
            <p:cNvPr id="88" name="Google Shape;88;p15"/>
            <p:cNvSpPr/>
            <p:nvPr/>
          </p:nvSpPr>
          <p:spPr>
            <a:xfrm>
              <a:off x="5994360" y="6553080"/>
              <a:ext cx="3103560" cy="44640"/>
            </a:xfrm>
            <a:prstGeom prst="rect">
              <a:avLst/>
            </a:prstGeom>
            <a:solidFill>
              <a:srgbClr val="76C2E5"/>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2844720" y="6553080"/>
              <a:ext cx="3148560" cy="44640"/>
            </a:xfrm>
            <a:prstGeom prst="rect">
              <a:avLst/>
            </a:prstGeom>
            <a:solidFill>
              <a:srgbClr val="FCB017"/>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9087120" y="6553080"/>
              <a:ext cx="3103560" cy="44640"/>
            </a:xfrm>
            <a:prstGeom prst="rect">
              <a:avLst/>
            </a:prstGeom>
            <a:solidFill>
              <a:srgbClr val="FF0000"/>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5"/>
          <p:cNvGrpSpPr/>
          <p:nvPr/>
        </p:nvGrpSpPr>
        <p:grpSpPr>
          <a:xfrm>
            <a:off x="0" y="1295280"/>
            <a:ext cx="9345960" cy="44640"/>
            <a:chOff x="0" y="1295280"/>
            <a:chExt cx="9345960" cy="44640"/>
          </a:xfrm>
        </p:grpSpPr>
        <p:sp>
          <p:nvSpPr>
            <p:cNvPr id="92" name="Google Shape;92;p15"/>
            <p:cNvSpPr/>
            <p:nvPr/>
          </p:nvSpPr>
          <p:spPr>
            <a:xfrm>
              <a:off x="3149640" y="1295280"/>
              <a:ext cx="3103560" cy="44640"/>
            </a:xfrm>
            <a:prstGeom prst="rect">
              <a:avLst/>
            </a:prstGeom>
            <a:solidFill>
              <a:srgbClr val="76C2E5"/>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0" y="1295280"/>
              <a:ext cx="3148560" cy="44640"/>
            </a:xfrm>
            <a:prstGeom prst="rect">
              <a:avLst/>
            </a:prstGeom>
            <a:solidFill>
              <a:srgbClr val="FCB017"/>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6242400" y="1295280"/>
              <a:ext cx="3103560" cy="44640"/>
            </a:xfrm>
            <a:prstGeom prst="rect">
              <a:avLst/>
            </a:prstGeom>
            <a:solidFill>
              <a:srgbClr val="FF0000"/>
            </a:solidFill>
            <a:ln>
              <a:noFill/>
            </a:ln>
            <a:effectLst>
              <a:outerShdw blurRad="40000"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6" name="Google Shape;96;p15"/>
          <p:cNvSpPr txBox="1"/>
          <p:nvPr>
            <p:ph idx="1" type="body"/>
          </p:nvPr>
        </p:nvSpPr>
        <p:spPr>
          <a:xfrm>
            <a:off x="609480" y="1604520"/>
            <a:ext cx="10972440" cy="397728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idx="1" type="body"/>
          </p:nvPr>
        </p:nvSpPr>
        <p:spPr>
          <a:xfrm>
            <a:off x="3733800" y="5162500"/>
            <a:ext cx="6324600" cy="1219200"/>
          </a:xfrm>
          <a:prstGeom prst="rect">
            <a:avLst/>
          </a:prstGeom>
          <a:noFill/>
          <a:ln>
            <a:noFill/>
          </a:ln>
        </p:spPr>
        <p:txBody>
          <a:bodyPr anchorCtr="0" anchor="b" bIns="0" lIns="0" spcFirstLastPara="1" rIns="0" wrap="square" tIns="0">
            <a:noAutofit/>
          </a:bodyPr>
          <a:lstStyle/>
          <a:p>
            <a:pPr indent="0" lvl="0" marL="0" rtl="0" algn="l">
              <a:lnSpc>
                <a:spcPct val="112500"/>
              </a:lnSpc>
              <a:spcBef>
                <a:spcPts val="0"/>
              </a:spcBef>
              <a:spcAft>
                <a:spcPts val="0"/>
              </a:spcAft>
              <a:buClr>
                <a:schemeClr val="lt1"/>
              </a:buClr>
              <a:buSzPts val="1600"/>
              <a:buNone/>
            </a:pPr>
            <a:r>
              <a:rPr lang="en-IN" sz="1600">
                <a:latin typeface="Arial"/>
                <a:ea typeface="Arial"/>
                <a:cs typeface="Arial"/>
                <a:sym typeface="Arial"/>
              </a:rPr>
              <a:t> </a:t>
            </a:r>
            <a:r>
              <a:rPr lang="en-IN" sz="1600"/>
              <a:t>Prakhar Mittal (2022B3A70426P)</a:t>
            </a:r>
            <a:endParaRPr/>
          </a:p>
          <a:p>
            <a:pPr indent="0" lvl="0" marL="0" rtl="0" algn="l">
              <a:lnSpc>
                <a:spcPct val="112500"/>
              </a:lnSpc>
              <a:spcBef>
                <a:spcPts val="0"/>
              </a:spcBef>
              <a:spcAft>
                <a:spcPts val="0"/>
              </a:spcAft>
              <a:buClr>
                <a:schemeClr val="lt1"/>
              </a:buClr>
              <a:buSzPts val="1600"/>
              <a:buNone/>
            </a:pPr>
            <a:br>
              <a:rPr lang="en-IN" sz="1600">
                <a:latin typeface="Arial"/>
                <a:ea typeface="Arial"/>
                <a:cs typeface="Arial"/>
                <a:sym typeface="Arial"/>
              </a:rPr>
            </a:br>
            <a:endParaRPr/>
          </a:p>
        </p:txBody>
      </p:sp>
      <p:sp>
        <p:nvSpPr>
          <p:cNvPr id="169" name="Google Shape;169;p30"/>
          <p:cNvSpPr txBox="1"/>
          <p:nvPr/>
        </p:nvSpPr>
        <p:spPr>
          <a:xfrm>
            <a:off x="3733798" y="4248100"/>
            <a:ext cx="6477000" cy="838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IN" sz="2000">
                <a:solidFill>
                  <a:schemeClr val="lt1"/>
                </a:solidFill>
              </a:rPr>
              <a:t>CaliGCL: Calibrated Graph Contrastive Learning via Partitioned Similarity and Consistency Discrimination </a:t>
            </a:r>
            <a:endParaRPr b="1" i="1" sz="1400">
              <a:solidFill>
                <a:schemeClr val="lt1"/>
              </a:solidFill>
              <a:latin typeface="Times New Roman"/>
              <a:ea typeface="Times New Roman"/>
              <a:cs typeface="Times New Roman"/>
              <a:sym typeface="Times New Roman"/>
            </a:endParaRPr>
          </a:p>
        </p:txBody>
      </p:sp>
      <p:sp>
        <p:nvSpPr>
          <p:cNvPr id="170" name="Google Shape;170;p30"/>
          <p:cNvSpPr txBox="1"/>
          <p:nvPr/>
        </p:nvSpPr>
        <p:spPr>
          <a:xfrm>
            <a:off x="3733799" y="3790901"/>
            <a:ext cx="67056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2400">
                <a:solidFill>
                  <a:schemeClr val="lt1"/>
                </a:solidFill>
              </a:rPr>
              <a:t>Paper Presentation</a:t>
            </a:r>
            <a:endParaRPr/>
          </a:p>
        </p:txBody>
      </p:sp>
      <p:sp>
        <p:nvSpPr>
          <p:cNvPr id="171" name="Google Shape;171;p30"/>
          <p:cNvSpPr txBox="1"/>
          <p:nvPr/>
        </p:nvSpPr>
        <p:spPr>
          <a:xfrm>
            <a:off x="10178283" y="0"/>
            <a:ext cx="195438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Date: 18/03/26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1"/>
          <p:cNvSpPr txBox="1"/>
          <p:nvPr>
            <p:ph idx="1" type="body"/>
          </p:nvPr>
        </p:nvSpPr>
        <p:spPr>
          <a:xfrm>
            <a:off x="406400" y="152400"/>
            <a:ext cx="84328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600"/>
              <a:buNone/>
            </a:pPr>
            <a:r>
              <a:rPr lang="en-IN"/>
              <a:t>Aim</a:t>
            </a:r>
            <a:endParaRPr/>
          </a:p>
        </p:txBody>
      </p:sp>
      <p:sp>
        <p:nvSpPr>
          <p:cNvPr id="177" name="Google Shape;177;p31"/>
          <p:cNvSpPr txBox="1"/>
          <p:nvPr/>
        </p:nvSpPr>
        <p:spPr>
          <a:xfrm>
            <a:off x="406400" y="2711846"/>
            <a:ext cx="10501200" cy="158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400"/>
              <a:t>To Explain:</a:t>
            </a:r>
            <a:endParaRPr sz="2400"/>
          </a:p>
          <a:p>
            <a:pPr indent="-381000" lvl="0" marL="457200" marR="0" rtl="0" algn="l">
              <a:spcBef>
                <a:spcPts val="0"/>
              </a:spcBef>
              <a:spcAft>
                <a:spcPts val="0"/>
              </a:spcAft>
              <a:buSzPts val="2400"/>
              <a:buAutoNum type="arabicPeriod"/>
            </a:pPr>
            <a:r>
              <a:rPr lang="en-IN" sz="2400"/>
              <a:t>Contrastive Learning on Graphs</a:t>
            </a:r>
            <a:endParaRPr sz="2400"/>
          </a:p>
          <a:p>
            <a:pPr indent="-381000" lvl="0" marL="457200" marR="0" rtl="0" algn="l">
              <a:spcBef>
                <a:spcPts val="0"/>
              </a:spcBef>
              <a:spcAft>
                <a:spcPts val="0"/>
              </a:spcAft>
              <a:buSzPts val="2400"/>
              <a:buAutoNum type="arabicPeriod"/>
            </a:pPr>
            <a:r>
              <a:rPr lang="en-IN" sz="2400"/>
              <a:t>Introduce 2 biases in the standard approach</a:t>
            </a:r>
            <a:endParaRPr sz="2400"/>
          </a:p>
          <a:p>
            <a:pPr indent="-381000" lvl="0" marL="457200" marR="0" rtl="0" algn="l">
              <a:spcBef>
                <a:spcPts val="0"/>
              </a:spcBef>
              <a:spcAft>
                <a:spcPts val="0"/>
              </a:spcAft>
              <a:buSzPts val="2400"/>
              <a:buAutoNum type="arabicPeriod"/>
            </a:pPr>
            <a:r>
              <a:rPr lang="en-IN" sz="2400"/>
              <a:t>Explain the hypothesis and working of the CaliGCL paper</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idx="1" type="body"/>
          </p:nvPr>
        </p:nvSpPr>
        <p:spPr>
          <a:xfrm>
            <a:off x="406400" y="152400"/>
            <a:ext cx="84328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600"/>
              <a:buNone/>
            </a:pPr>
            <a:r>
              <a:rPr lang="en-IN"/>
              <a:t>Introduction to GCL</a:t>
            </a:r>
            <a:endParaRPr/>
          </a:p>
        </p:txBody>
      </p:sp>
      <p:sp>
        <p:nvSpPr>
          <p:cNvPr id="183" name="Google Shape;183;p32"/>
          <p:cNvSpPr txBox="1"/>
          <p:nvPr/>
        </p:nvSpPr>
        <p:spPr>
          <a:xfrm>
            <a:off x="406400" y="1761601"/>
            <a:ext cx="10345800" cy="4482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IN" sz="2400">
                <a:solidFill>
                  <a:schemeClr val="dk1"/>
                </a:solidFill>
              </a:rPr>
              <a:t>Core Idea: Learn useful representations without labels by asking which things are similar to each other and which are different.</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rPr lang="en-IN" sz="2400">
                <a:solidFill>
                  <a:schemeClr val="dk1"/>
                </a:solidFill>
              </a:rPr>
              <a:t>Graph Augmentation:</a:t>
            </a:r>
            <a:endParaRPr sz="2400">
              <a:solidFill>
                <a:schemeClr val="dk1"/>
              </a:solidFill>
            </a:endParaRPr>
          </a:p>
          <a:p>
            <a:pPr indent="0" lvl="0" marL="0" marR="0" rtl="0" algn="just">
              <a:spcBef>
                <a:spcPts val="0"/>
              </a:spcBef>
              <a:spcAft>
                <a:spcPts val="0"/>
              </a:spcAft>
              <a:buNone/>
            </a:pPr>
            <a:r>
              <a:rPr lang="en-IN" sz="2400">
                <a:solidFill>
                  <a:schemeClr val="dk1"/>
                </a:solidFill>
              </a:rPr>
              <a:t>G = (V,E,X)</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rPr lang="en-IN" sz="2400">
                <a:solidFill>
                  <a:schemeClr val="dk1"/>
                </a:solidFill>
              </a:rPr>
              <a:t>G’ = T(G) (Stochastic Transformation)</a:t>
            </a:r>
            <a:endParaRPr sz="2400">
              <a:solidFill>
                <a:schemeClr val="dk1"/>
              </a:solidFill>
            </a:endParaRPr>
          </a:p>
          <a:p>
            <a:pPr indent="0" lvl="0" marL="0" marR="0" rtl="0" algn="just">
              <a:spcBef>
                <a:spcPts val="0"/>
              </a:spcBef>
              <a:spcAft>
                <a:spcPts val="0"/>
              </a:spcAft>
              <a:buNone/>
            </a:pPr>
            <a:r>
              <a:rPr lang="en-IN" sz="2400">
                <a:solidFill>
                  <a:schemeClr val="dk1"/>
                </a:solidFill>
              </a:rPr>
              <a:t>Usually the transformation is either edge dropping and/or feature masking</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rPr lang="en-IN" sz="2400">
                <a:solidFill>
                  <a:schemeClr val="dk1"/>
                </a:solidFill>
              </a:rPr>
              <a:t>Edge dropping: A’ = A⊙M (Mij = Bernoulli(1-Pe))</a:t>
            </a:r>
            <a:endParaRPr sz="2400">
              <a:solidFill>
                <a:schemeClr val="dk1"/>
              </a:solidFill>
            </a:endParaRPr>
          </a:p>
          <a:p>
            <a:pPr indent="0" lvl="0" marL="0" marR="0" rtl="0" algn="just">
              <a:spcBef>
                <a:spcPts val="0"/>
              </a:spcBef>
              <a:spcAft>
                <a:spcPts val="0"/>
              </a:spcAft>
              <a:buNone/>
            </a:pPr>
            <a:r>
              <a:rPr lang="en-IN" sz="2400">
                <a:solidFill>
                  <a:schemeClr val="dk1"/>
                </a:solidFill>
              </a:rPr>
              <a:t>Feature Masking: X’ = X⊙F </a:t>
            </a:r>
            <a:r>
              <a:rPr lang="en-IN" sz="2400">
                <a:solidFill>
                  <a:schemeClr val="dk1"/>
                </a:solidFill>
              </a:rPr>
              <a:t>(Fij = Bernoulli(1-Pf))</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idx="1" type="body"/>
          </p:nvPr>
        </p:nvSpPr>
        <p:spPr>
          <a:xfrm>
            <a:off x="406400" y="152400"/>
            <a:ext cx="84327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600"/>
              <a:buNone/>
            </a:pPr>
            <a:r>
              <a:rPr lang="en-IN"/>
              <a:t>Introduction to GCL</a:t>
            </a:r>
            <a:endParaRPr/>
          </a:p>
        </p:txBody>
      </p:sp>
      <p:sp>
        <p:nvSpPr>
          <p:cNvPr id="189" name="Google Shape;189;p33"/>
          <p:cNvSpPr txBox="1"/>
          <p:nvPr/>
        </p:nvSpPr>
        <p:spPr>
          <a:xfrm>
            <a:off x="406400" y="1626800"/>
            <a:ext cx="10345800" cy="2635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IN" sz="2400">
                <a:solidFill>
                  <a:schemeClr val="dk1"/>
                </a:solidFill>
              </a:rPr>
              <a:t>Now we get two sampled Tu and Tv functions and u</a:t>
            </a:r>
            <a:r>
              <a:rPr lang="en-IN" sz="2400">
                <a:solidFill>
                  <a:schemeClr val="dk1"/>
                </a:solidFill>
              </a:rPr>
              <a:t>sing a GNN encoder we get “views”</a:t>
            </a:r>
            <a:endParaRPr sz="2400">
              <a:solidFill>
                <a:schemeClr val="dk1"/>
              </a:solidFill>
            </a:endParaRPr>
          </a:p>
          <a:p>
            <a:pPr indent="0" lvl="0" marL="0" rtl="0" algn="just">
              <a:spcBef>
                <a:spcPts val="0"/>
              </a:spcBef>
              <a:spcAft>
                <a:spcPts val="0"/>
              </a:spcAft>
              <a:buNone/>
            </a:pPr>
            <a:r>
              <a:rPr lang="en-IN" sz="2400">
                <a:solidFill>
                  <a:schemeClr val="dk1"/>
                </a:solidFill>
              </a:rPr>
              <a:t>U = Tu(G), </a:t>
            </a:r>
            <a:r>
              <a:rPr lang="en-IN" sz="2400">
                <a:solidFill>
                  <a:schemeClr val="dk1"/>
                </a:solidFill>
              </a:rPr>
              <a:t>Hu = f(Au, Xu)</a:t>
            </a:r>
            <a:endParaRPr sz="2400">
              <a:solidFill>
                <a:schemeClr val="dk1"/>
              </a:solidFill>
            </a:endParaRPr>
          </a:p>
          <a:p>
            <a:pPr indent="0" lvl="0" marL="0" rtl="0" algn="just">
              <a:spcBef>
                <a:spcPts val="0"/>
              </a:spcBef>
              <a:spcAft>
                <a:spcPts val="0"/>
              </a:spcAft>
              <a:buNone/>
            </a:pPr>
            <a:r>
              <a:rPr lang="en-IN" sz="2400">
                <a:solidFill>
                  <a:schemeClr val="dk1"/>
                </a:solidFill>
              </a:rPr>
              <a:t>V = Tv(G), </a:t>
            </a:r>
            <a:r>
              <a:rPr lang="en-IN" sz="2400">
                <a:solidFill>
                  <a:schemeClr val="dk1"/>
                </a:solidFill>
              </a:rPr>
              <a:t>Hv = f(Av, Xv)</a:t>
            </a:r>
            <a:endParaRPr sz="2400">
              <a:solidFill>
                <a:schemeClr val="dk1"/>
              </a:solidFill>
            </a:endParaRPr>
          </a:p>
          <a:p>
            <a:pPr indent="0" lvl="0" marL="0" rtl="0" algn="just">
              <a:spcBef>
                <a:spcPts val="0"/>
              </a:spcBef>
              <a:spcAft>
                <a:spcPts val="0"/>
              </a:spcAft>
              <a:buNone/>
            </a:pPr>
            <a:r>
              <a:t/>
            </a:r>
            <a:endParaRPr sz="2400">
              <a:solidFill>
                <a:schemeClr val="dk1"/>
              </a:solidFill>
            </a:endParaRPr>
          </a:p>
          <a:p>
            <a:pPr indent="0" lvl="0" marL="0" rtl="0" algn="just">
              <a:spcBef>
                <a:spcPts val="0"/>
              </a:spcBef>
              <a:spcAft>
                <a:spcPts val="0"/>
              </a:spcAft>
              <a:buNone/>
            </a:pPr>
            <a:r>
              <a:rPr lang="en-IN" sz="2400">
                <a:solidFill>
                  <a:schemeClr val="dk1"/>
                </a:solidFill>
              </a:rPr>
              <a:t>Hu and Hv are partially incomplete/blind, the hope is that we learn some invariant features that come from forcing Hui and Hvi to agree</a:t>
            </a:r>
            <a:endParaRPr sz="2400">
              <a:solidFill>
                <a:schemeClr val="dk1"/>
              </a:solidFill>
            </a:endParaRPr>
          </a:p>
          <a:p>
            <a:pPr indent="0" lvl="0" marL="0" rtl="0" algn="just">
              <a:spcBef>
                <a:spcPts val="0"/>
              </a:spcBef>
              <a:spcAft>
                <a:spcPts val="0"/>
              </a:spcAft>
              <a:buClr>
                <a:schemeClr val="dk1"/>
              </a:buClr>
              <a:buFont typeface="Arial"/>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p:txBody>
      </p:sp>
      <p:pic>
        <p:nvPicPr>
          <p:cNvPr id="190" name="Google Shape;190;p33" title="Screenshot 2026-03-18 121735.png"/>
          <p:cNvPicPr preferRelativeResize="0"/>
          <p:nvPr/>
        </p:nvPicPr>
        <p:blipFill>
          <a:blip r:embed="rId3">
            <a:alphaModFix/>
          </a:blip>
          <a:stretch>
            <a:fillRect/>
          </a:stretch>
        </p:blipFill>
        <p:spPr>
          <a:xfrm>
            <a:off x="406400" y="4732500"/>
            <a:ext cx="11709399" cy="1439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idx="1" type="body"/>
          </p:nvPr>
        </p:nvSpPr>
        <p:spPr>
          <a:xfrm>
            <a:off x="406400" y="152400"/>
            <a:ext cx="84328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600"/>
              <a:buNone/>
            </a:pPr>
            <a:r>
              <a:rPr lang="en-IN"/>
              <a:t>Why CaliGCL</a:t>
            </a:r>
            <a:endParaRPr/>
          </a:p>
        </p:txBody>
      </p:sp>
      <p:sp>
        <p:nvSpPr>
          <p:cNvPr id="196" name="Google Shape;196;p34"/>
          <p:cNvSpPr txBox="1"/>
          <p:nvPr/>
        </p:nvSpPr>
        <p:spPr>
          <a:xfrm>
            <a:off x="406399" y="1565731"/>
            <a:ext cx="10879909" cy="4031873"/>
          </a:xfrm>
          <a:prstGeom prst="rect">
            <a:avLst/>
          </a:prstGeom>
          <a:noFill/>
          <a:ln>
            <a:noFill/>
          </a:ln>
        </p:spPr>
        <p:txBody>
          <a:bodyPr anchorCtr="0" anchor="t" bIns="45700" lIns="91425" spcFirstLastPara="1" rIns="91425" wrap="square" tIns="45700">
            <a:noAutofit/>
          </a:bodyPr>
          <a:lstStyle/>
          <a:p>
            <a:pPr indent="0" lvl="0" marL="0" marR="0" rtl="0" algn="l">
              <a:spcBef>
                <a:spcPts val="1600"/>
              </a:spcBef>
              <a:spcAft>
                <a:spcPts val="0"/>
              </a:spcAft>
              <a:buNone/>
            </a:pPr>
            <a:r>
              <a:rPr lang="en-IN" sz="2400"/>
              <a:t>In our standard approach we make two implicit assumptions:</a:t>
            </a:r>
            <a:endParaRPr sz="2400"/>
          </a:p>
          <a:p>
            <a:pPr indent="-381000" lvl="0" marL="457200" marR="0" rtl="0" algn="l">
              <a:spcBef>
                <a:spcPts val="1600"/>
              </a:spcBef>
              <a:spcAft>
                <a:spcPts val="0"/>
              </a:spcAft>
              <a:buSzPts val="2400"/>
              <a:buAutoNum type="arabicParenR"/>
            </a:pPr>
            <a:r>
              <a:rPr lang="en-IN" sz="2400"/>
              <a:t>Inner product can faithfully produce the similarity in two node representation</a:t>
            </a:r>
            <a:endParaRPr sz="2400"/>
          </a:p>
          <a:p>
            <a:pPr indent="-381000" lvl="0" marL="457200" marR="0" rtl="0" algn="l">
              <a:spcBef>
                <a:spcPts val="0"/>
              </a:spcBef>
              <a:spcAft>
                <a:spcPts val="0"/>
              </a:spcAft>
              <a:buSzPts val="2400"/>
              <a:buAutoNum type="arabicParenR"/>
            </a:pPr>
            <a:r>
              <a:rPr lang="en-IN" sz="2400"/>
              <a:t>Counterpart nodes across two views will always be a positive pair</a:t>
            </a:r>
            <a:endParaRPr sz="2400"/>
          </a:p>
          <a:p>
            <a:pPr indent="0" lvl="0" marL="0" marR="0" rtl="0" algn="l">
              <a:spcBef>
                <a:spcPts val="1600"/>
              </a:spcBef>
              <a:spcAft>
                <a:spcPts val="0"/>
              </a:spcAft>
              <a:buNone/>
            </a:pPr>
            <a:r>
              <a:t/>
            </a:r>
            <a:endParaRPr sz="2400"/>
          </a:p>
          <a:p>
            <a:pPr indent="0" lvl="0" marL="0" marR="0" rtl="0" algn="l">
              <a:spcBef>
                <a:spcPts val="1600"/>
              </a:spcBef>
              <a:spcAft>
                <a:spcPts val="0"/>
              </a:spcAft>
              <a:buNone/>
            </a:pPr>
            <a:r>
              <a:rPr lang="en-IN" sz="2400"/>
              <a:t>There are 2 biases in these assumptions:</a:t>
            </a:r>
            <a:endParaRPr sz="2400"/>
          </a:p>
          <a:p>
            <a:pPr indent="-381000" lvl="0" marL="457200" rtl="0" algn="l">
              <a:spcBef>
                <a:spcPts val="1600"/>
              </a:spcBef>
              <a:spcAft>
                <a:spcPts val="0"/>
              </a:spcAft>
              <a:buSzPts val="2400"/>
              <a:buAutoNum type="arabicParenR"/>
            </a:pPr>
            <a:r>
              <a:rPr lang="en-IN" sz="2400">
                <a:solidFill>
                  <a:schemeClr val="dk1"/>
                </a:solidFill>
              </a:rPr>
              <a:t>Similarity estimation bias : Inner Product is not sufficient</a:t>
            </a:r>
            <a:endParaRPr sz="2400">
              <a:solidFill>
                <a:schemeClr val="dk1"/>
              </a:solidFill>
            </a:endParaRPr>
          </a:p>
          <a:p>
            <a:pPr indent="-381000" lvl="0" marL="457200" rtl="0" algn="l">
              <a:spcBef>
                <a:spcPts val="0"/>
              </a:spcBef>
              <a:spcAft>
                <a:spcPts val="0"/>
              </a:spcAft>
              <a:buClr>
                <a:schemeClr val="dk1"/>
              </a:buClr>
              <a:buSzPts val="2400"/>
              <a:buAutoNum type="arabicParenR"/>
            </a:pPr>
            <a:r>
              <a:rPr lang="en-IN" sz="2400">
                <a:solidFill>
                  <a:schemeClr val="dk1"/>
                </a:solidFill>
              </a:rPr>
              <a:t>Semantic Shift Bias : Same node can flip semantically across views</a:t>
            </a:r>
            <a:endParaRPr sz="2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ph idx="1" type="body"/>
          </p:nvPr>
        </p:nvSpPr>
        <p:spPr>
          <a:xfrm>
            <a:off x="406400" y="152400"/>
            <a:ext cx="84327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600"/>
              <a:buNone/>
            </a:pPr>
            <a:r>
              <a:rPr lang="en-IN"/>
              <a:t>Biases</a:t>
            </a:r>
            <a:endParaRPr/>
          </a:p>
        </p:txBody>
      </p:sp>
      <p:pic>
        <p:nvPicPr>
          <p:cNvPr id="202" name="Google Shape;202;p35" title="Screenshot 2026-03-18 112948.png"/>
          <p:cNvPicPr preferRelativeResize="0"/>
          <p:nvPr/>
        </p:nvPicPr>
        <p:blipFill rotWithShape="1">
          <a:blip r:embed="rId3">
            <a:alphaModFix/>
          </a:blip>
          <a:srcRect b="0" l="8892" r="0" t="0"/>
          <a:stretch/>
        </p:blipFill>
        <p:spPr>
          <a:xfrm>
            <a:off x="4048625" y="1413000"/>
            <a:ext cx="4532675" cy="4982750"/>
          </a:xfrm>
          <a:prstGeom prst="rect">
            <a:avLst/>
          </a:prstGeom>
          <a:noFill/>
          <a:ln>
            <a:noFill/>
          </a:ln>
        </p:spPr>
      </p:pic>
      <p:sp>
        <p:nvSpPr>
          <p:cNvPr id="203" name="Google Shape;203;p35"/>
          <p:cNvSpPr txBox="1"/>
          <p:nvPr/>
        </p:nvSpPr>
        <p:spPr>
          <a:xfrm>
            <a:off x="7925950" y="1413000"/>
            <a:ext cx="4181400" cy="50667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IN" sz="2400"/>
              <a:t>When nodes are augmented, it is possible that the same node across views ends up with very different semantics when augmented randomly. </a:t>
            </a:r>
            <a:endParaRPr sz="2400"/>
          </a:p>
          <a:p>
            <a:pPr indent="0" lvl="0" marL="0" marR="0" rtl="0" algn="r">
              <a:spcBef>
                <a:spcPts val="0"/>
              </a:spcBef>
              <a:spcAft>
                <a:spcPts val="0"/>
              </a:spcAft>
              <a:buNone/>
            </a:pPr>
            <a:r>
              <a:t/>
            </a:r>
            <a:endParaRPr sz="2400"/>
          </a:p>
          <a:p>
            <a:pPr indent="0" lvl="0" marL="0" marR="0" rtl="0" algn="r">
              <a:spcBef>
                <a:spcPts val="0"/>
              </a:spcBef>
              <a:spcAft>
                <a:spcPts val="0"/>
              </a:spcAft>
              <a:buNone/>
            </a:pPr>
            <a:r>
              <a:rPr lang="en-IN" sz="2400"/>
              <a:t>This is especially true for nodes on the bridges of communities. </a:t>
            </a:r>
            <a:endParaRPr sz="2400"/>
          </a:p>
          <a:p>
            <a:pPr indent="0" lvl="0" marL="0" marR="0" rtl="0" algn="r">
              <a:spcBef>
                <a:spcPts val="0"/>
              </a:spcBef>
              <a:spcAft>
                <a:spcPts val="0"/>
              </a:spcAft>
              <a:buNone/>
            </a:pPr>
            <a:r>
              <a:t/>
            </a:r>
            <a:endParaRPr sz="2400"/>
          </a:p>
          <a:p>
            <a:pPr indent="0" lvl="0" marL="0" marR="0" rtl="0" algn="r">
              <a:spcBef>
                <a:spcPts val="0"/>
              </a:spcBef>
              <a:spcAft>
                <a:spcPts val="0"/>
              </a:spcAft>
              <a:buNone/>
            </a:pPr>
            <a:r>
              <a:rPr lang="en-IN" sz="2400"/>
              <a:t>Thus nodes that are ideally a +ve pair, ends up with signaling -ve semantics and worsen our encoder loss.</a:t>
            </a:r>
            <a:endParaRPr sz="2400"/>
          </a:p>
        </p:txBody>
      </p:sp>
      <p:sp>
        <p:nvSpPr>
          <p:cNvPr id="204" name="Google Shape;204;p35"/>
          <p:cNvSpPr txBox="1"/>
          <p:nvPr/>
        </p:nvSpPr>
        <p:spPr>
          <a:xfrm>
            <a:off x="86250" y="1211150"/>
            <a:ext cx="4181400" cy="5184600"/>
          </a:xfrm>
          <a:prstGeom prst="rect">
            <a:avLst/>
          </a:prstGeom>
          <a:noFill/>
          <a:ln>
            <a:noFill/>
          </a:ln>
        </p:spPr>
        <p:txBody>
          <a:bodyPr anchorCtr="0" anchor="t" bIns="45700" lIns="91425" spcFirstLastPara="1" rIns="91425" wrap="square" tIns="45700">
            <a:noAutofit/>
          </a:bodyPr>
          <a:lstStyle/>
          <a:p>
            <a:pPr indent="0" lvl="0" marL="0" rtl="0" algn="l">
              <a:spcBef>
                <a:spcPts val="1600"/>
              </a:spcBef>
              <a:spcAft>
                <a:spcPts val="0"/>
              </a:spcAft>
              <a:buNone/>
            </a:pPr>
            <a:r>
              <a:rPr lang="en-IN" sz="2400"/>
              <a:t>A +ve pair may have components that internally have -ve product and can reduce the overall +ve value.</a:t>
            </a:r>
            <a:endParaRPr sz="2400"/>
          </a:p>
          <a:p>
            <a:pPr indent="0" lvl="0" marL="0" rtl="0" algn="l">
              <a:spcBef>
                <a:spcPts val="1600"/>
              </a:spcBef>
              <a:spcAft>
                <a:spcPts val="0"/>
              </a:spcAft>
              <a:buNone/>
            </a:pPr>
            <a:r>
              <a:rPr lang="en-IN" sz="2400"/>
              <a:t>the probability that some subset/partition m having -ve product is:</a:t>
            </a:r>
            <a:endParaRPr sz="2400"/>
          </a:p>
          <a:p>
            <a:pPr indent="0" lvl="0" marL="0" rtl="0" algn="l">
              <a:spcBef>
                <a:spcPts val="1600"/>
              </a:spcBef>
              <a:spcAft>
                <a:spcPts val="0"/>
              </a:spcAft>
              <a:buNone/>
            </a:pPr>
            <a:r>
              <a:rPr lang="en-IN" sz="2400"/>
              <a:t>P = CDF( -Mu^2 / sqrt(m).(u^2 + 2.σ^2)^2) -&gt; this is never zero</a:t>
            </a:r>
            <a:endParaRPr sz="2400"/>
          </a:p>
          <a:p>
            <a:pPr indent="0" lvl="0" marL="0" rtl="0" algn="l">
              <a:spcBef>
                <a:spcPts val="1600"/>
              </a:spcBef>
              <a:spcAft>
                <a:spcPts val="0"/>
              </a:spcAft>
              <a:buNone/>
            </a:pPr>
            <a:r>
              <a:rPr lang="en-IN" sz="2400"/>
              <a:t>where the feature </a:t>
            </a:r>
            <a:r>
              <a:rPr lang="en-IN" sz="2400"/>
              <a:t>distribution is N(u,</a:t>
            </a:r>
            <a:r>
              <a:rPr lang="en-IN" sz="2400">
                <a:solidFill>
                  <a:schemeClr val="dk1"/>
                </a:solidFill>
              </a:rPr>
              <a:t>σ^2)</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idx="1" type="body"/>
          </p:nvPr>
        </p:nvSpPr>
        <p:spPr>
          <a:xfrm>
            <a:off x="406400" y="152400"/>
            <a:ext cx="84328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600"/>
              <a:buNone/>
            </a:pPr>
            <a:r>
              <a:rPr lang="en-IN"/>
              <a:t>Solution</a:t>
            </a:r>
            <a:endParaRPr/>
          </a:p>
        </p:txBody>
      </p:sp>
      <p:sp>
        <p:nvSpPr>
          <p:cNvPr id="210" name="Google Shape;210;p36"/>
          <p:cNvSpPr txBox="1"/>
          <p:nvPr/>
        </p:nvSpPr>
        <p:spPr>
          <a:xfrm>
            <a:off x="406400" y="1627900"/>
            <a:ext cx="10992900" cy="476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400"/>
              <a:t>To address our problems we use two components:</a:t>
            </a:r>
            <a:endParaRPr sz="2400"/>
          </a:p>
          <a:p>
            <a:pPr indent="-381000" lvl="0" marL="457200" marR="0" rtl="0" algn="l">
              <a:spcBef>
                <a:spcPts val="0"/>
              </a:spcBef>
              <a:spcAft>
                <a:spcPts val="0"/>
              </a:spcAft>
              <a:buSzPts val="2400"/>
              <a:buAutoNum type="arabicParenR"/>
            </a:pPr>
            <a:r>
              <a:rPr lang="en-IN" sz="2400"/>
              <a:t>Exponential Partition (Bias 1)</a:t>
            </a:r>
            <a:endParaRPr sz="2400"/>
          </a:p>
          <a:p>
            <a:pPr indent="-381000" lvl="0" marL="457200" marR="0" rtl="0" algn="l">
              <a:spcBef>
                <a:spcPts val="0"/>
              </a:spcBef>
              <a:spcAft>
                <a:spcPts val="0"/>
              </a:spcAft>
              <a:buSzPts val="2400"/>
              <a:buAutoNum type="arabicParenR"/>
            </a:pPr>
            <a:r>
              <a:rPr lang="en-IN" sz="2400"/>
              <a:t>Dynamic Discriminator (Bias 2)</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rPr lang="en-IN" sz="2400"/>
              <a:t>Exponential Partition:</a:t>
            </a:r>
            <a:endParaRPr sz="2400"/>
          </a:p>
          <a:p>
            <a:pPr indent="0" lvl="0" marL="0" marR="0" rtl="0" algn="l">
              <a:spcBef>
                <a:spcPts val="0"/>
              </a:spcBef>
              <a:spcAft>
                <a:spcPts val="0"/>
              </a:spcAft>
              <a:buNone/>
            </a:pPr>
            <a:r>
              <a:rPr lang="en-IN" sz="2400"/>
              <a:t>Designed to exponentiate the inner product of partitions of representation vector such that the positive values remain high but the negative values should decrease.</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rPr lang="en-IN" sz="2400"/>
              <a:t>Dynamic Discriminator:</a:t>
            </a:r>
            <a:endParaRPr sz="2400"/>
          </a:p>
          <a:p>
            <a:pPr indent="0" lvl="0" marL="0" marR="0" rtl="0" algn="l">
              <a:spcBef>
                <a:spcPts val="0"/>
              </a:spcBef>
              <a:spcAft>
                <a:spcPts val="0"/>
              </a:spcAft>
              <a:buNone/>
            </a:pPr>
            <a:r>
              <a:rPr lang="en-IN" sz="2400"/>
              <a:t>Use a fusion vector of two node representations (this time in the form of concatenation of augmentation and eigenvectors) and pass it to an MLP for decision making</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Exponential Partition</a:t>
            </a:r>
            <a:endParaRPr/>
          </a:p>
        </p:txBody>
      </p:sp>
      <p:sp>
        <p:nvSpPr>
          <p:cNvPr id="217" name="Google Shape;217;p37"/>
          <p:cNvSpPr txBox="1"/>
          <p:nvPr/>
        </p:nvSpPr>
        <p:spPr>
          <a:xfrm>
            <a:off x="526950" y="2317675"/>
            <a:ext cx="10969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chemeClr val="dk1"/>
                </a:solidFill>
              </a:rPr>
              <a:t>Given representation Hvi, we can take K partitions with m elements each:</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Hvi = [ Hvi (1) | Hvi (2) | — — — | Hvi (k) ]</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Spart(Hvi, Hvj) = 1/K SUM(k) { exp(kHvi (k) T . Hvj (k) / t) }</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Spart</a:t>
            </a:r>
            <a:r>
              <a:rPr lang="en-IN" sz="2400">
                <a:solidFill>
                  <a:schemeClr val="dk1"/>
                </a:solidFill>
              </a:rPr>
              <a:t>(Hvi, Hvj)</a:t>
            </a:r>
            <a:r>
              <a:rPr lang="en-IN" sz="2400">
                <a:solidFill>
                  <a:schemeClr val="dk1"/>
                </a:solidFill>
              </a:rPr>
              <a:t> will always be greater than or equal to S(Hvi, Hvj) </a:t>
            </a:r>
            <a:endParaRPr sz="2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Dynamic Discriminator</a:t>
            </a:r>
            <a:endParaRPr/>
          </a:p>
        </p:txBody>
      </p:sp>
      <p:sp>
        <p:nvSpPr>
          <p:cNvPr id="224" name="Google Shape;224;p38"/>
          <p:cNvSpPr txBox="1"/>
          <p:nvPr/>
        </p:nvSpPr>
        <p:spPr>
          <a:xfrm>
            <a:off x="644900" y="1727900"/>
            <a:ext cx="91449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chemeClr val="dk1"/>
                </a:solidFill>
              </a:rPr>
              <a:t>L = D^-½. A’. D^-½   where A’ = A + I</a:t>
            </a:r>
            <a:endParaRPr sz="2400">
              <a:solidFill>
                <a:schemeClr val="dk1"/>
              </a:solidFill>
            </a:endParaRPr>
          </a:p>
          <a:p>
            <a:pPr indent="0" lvl="0" marL="0" rtl="0" algn="l">
              <a:spcBef>
                <a:spcPts val="0"/>
              </a:spcBef>
              <a:spcAft>
                <a:spcPts val="0"/>
              </a:spcAft>
              <a:buNone/>
            </a:pPr>
            <a:r>
              <a:rPr lang="en-IN" sz="2400">
                <a:solidFill>
                  <a:schemeClr val="dk1"/>
                </a:solidFill>
              </a:rPr>
              <a:t>L = UλU^T</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Create Vector C = Top T eigenvectors of L</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Zv = Hv | Cv</a:t>
            </a:r>
            <a:endParaRPr sz="2400">
              <a:solidFill>
                <a:schemeClr val="dk1"/>
              </a:solidFill>
            </a:endParaRPr>
          </a:p>
          <a:p>
            <a:pPr indent="0" lvl="0" marL="0" rtl="0" algn="l">
              <a:spcBef>
                <a:spcPts val="0"/>
              </a:spcBef>
              <a:spcAft>
                <a:spcPts val="0"/>
              </a:spcAft>
              <a:buNone/>
            </a:pPr>
            <a:r>
              <a:rPr lang="en-IN" sz="2400">
                <a:solidFill>
                  <a:schemeClr val="dk1"/>
                </a:solidFill>
              </a:rPr>
              <a:t>Fusion vector = Zi⊙Zj</a:t>
            </a:r>
            <a:endParaRPr sz="2400">
              <a:solidFill>
                <a:schemeClr val="dk1"/>
              </a:solidFill>
            </a:endParaRPr>
          </a:p>
          <a:p>
            <a:pPr indent="0" lvl="0" marL="0" rtl="0" algn="l">
              <a:spcBef>
                <a:spcPts val="0"/>
              </a:spcBef>
              <a:spcAft>
                <a:spcPts val="0"/>
              </a:spcAft>
              <a:buNone/>
            </a:pPr>
            <a:r>
              <a:rPr lang="en-IN" sz="2400">
                <a:solidFill>
                  <a:schemeClr val="dk1"/>
                </a:solidFill>
              </a:rPr>
              <a:t>P(i,j) = D(Zi ⊙ Zj )</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Decision boundary:</a:t>
            </a:r>
            <a:endParaRPr sz="2400">
              <a:solidFill>
                <a:schemeClr val="dk1"/>
              </a:solidFill>
            </a:endParaRPr>
          </a:p>
          <a:p>
            <a:pPr indent="0" lvl="0" marL="0" rtl="0" algn="l">
              <a:spcBef>
                <a:spcPts val="0"/>
              </a:spcBef>
              <a:spcAft>
                <a:spcPts val="0"/>
              </a:spcAft>
              <a:buNone/>
            </a:pPr>
            <a:r>
              <a:rPr lang="en-IN" sz="2400">
                <a:solidFill>
                  <a:schemeClr val="dk1"/>
                </a:solidFill>
              </a:rPr>
              <a:t>l(i,j) =  1,  if P(i,j) ≥ η </a:t>
            </a:r>
            <a:endParaRPr sz="2400">
              <a:solidFill>
                <a:schemeClr val="dk1"/>
              </a:solidFill>
            </a:endParaRPr>
          </a:p>
          <a:p>
            <a:pPr indent="457200" lvl="0" marL="457200" rtl="0" algn="l">
              <a:spcBef>
                <a:spcPts val="0"/>
              </a:spcBef>
              <a:spcAft>
                <a:spcPts val="0"/>
              </a:spcAft>
              <a:buNone/>
            </a:pPr>
            <a:r>
              <a:rPr lang="en-IN" sz="2400">
                <a:solidFill>
                  <a:schemeClr val="dk1"/>
                </a:solidFill>
              </a:rPr>
              <a:t> 0,  if P(i,j) &lt; η </a:t>
            </a:r>
            <a:endParaRPr sz="2400">
              <a:solidFill>
                <a:schemeClr val="dk1"/>
              </a:solidFill>
            </a:endParaRPr>
          </a:p>
          <a:p>
            <a:pPr indent="0" lvl="0" marL="0" rtl="0" algn="l">
              <a:spcBef>
                <a:spcPts val="0"/>
              </a:spcBef>
              <a:spcAft>
                <a:spcPts val="0"/>
              </a:spcAft>
              <a:buNone/>
            </a:pPr>
            <a:r>
              <a:t/>
            </a:r>
            <a:endParaRPr sz="2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9"/>
          <p:cNvSpPr txBox="1"/>
          <p:nvPr>
            <p:ph idx="1" type="body"/>
          </p:nvPr>
        </p:nvSpPr>
        <p:spPr>
          <a:xfrm rot="-5400000">
            <a:off x="-2097375" y="2568850"/>
            <a:ext cx="56892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Training</a:t>
            </a:r>
            <a:endParaRPr/>
          </a:p>
        </p:txBody>
      </p:sp>
      <p:pic>
        <p:nvPicPr>
          <p:cNvPr id="231" name="Google Shape;231;p39" title="Screenshot 2026-03-18 115348.png"/>
          <p:cNvPicPr preferRelativeResize="0"/>
          <p:nvPr/>
        </p:nvPicPr>
        <p:blipFill>
          <a:blip r:embed="rId3">
            <a:alphaModFix/>
          </a:blip>
          <a:stretch>
            <a:fillRect/>
          </a:stretch>
        </p:blipFill>
        <p:spPr>
          <a:xfrm>
            <a:off x="1584675" y="295750"/>
            <a:ext cx="10469626" cy="6131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0"/>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Training</a:t>
            </a:r>
            <a:endParaRPr/>
          </a:p>
        </p:txBody>
      </p:sp>
      <p:sp>
        <p:nvSpPr>
          <p:cNvPr id="238" name="Google Shape;238;p40"/>
          <p:cNvSpPr txBox="1"/>
          <p:nvPr/>
        </p:nvSpPr>
        <p:spPr>
          <a:xfrm>
            <a:off x="507400" y="1579900"/>
            <a:ext cx="11329800" cy="474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400">
                <a:solidFill>
                  <a:schemeClr val="dk1"/>
                </a:solidFill>
              </a:rPr>
              <a:t>Since the encoder and discriminator both require each other to work well for training themselves we follow a two step process:</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381000" lvl="0" marL="457200" rtl="0" algn="l">
              <a:spcBef>
                <a:spcPts val="0"/>
              </a:spcBef>
              <a:spcAft>
                <a:spcPts val="0"/>
              </a:spcAft>
              <a:buClr>
                <a:schemeClr val="dk1"/>
              </a:buClr>
              <a:buSzPts val="2400"/>
              <a:buAutoNum type="arabicParenR"/>
            </a:pPr>
            <a:r>
              <a:rPr lang="en-IN" sz="2400">
                <a:solidFill>
                  <a:schemeClr val="dk1"/>
                </a:solidFill>
              </a:rPr>
              <a:t>Pretraining </a:t>
            </a:r>
            <a:r>
              <a:rPr lang="en-IN" sz="2400">
                <a:solidFill>
                  <a:schemeClr val="dk1"/>
                </a:solidFill>
              </a:rPr>
              <a:t>independently: The encoder is trained with the partitioned contrastive loss. The discriminator is trained on the conservative +ve/-ve pairs. Both components develop some baseline competence without relying on each other.</a:t>
            </a:r>
            <a:endParaRPr sz="2400">
              <a:solidFill>
                <a:schemeClr val="dk1"/>
              </a:solidFill>
            </a:endParaRPr>
          </a:p>
          <a:p>
            <a:pPr indent="0" lvl="0" marL="457200" rtl="0" algn="l">
              <a:spcBef>
                <a:spcPts val="0"/>
              </a:spcBef>
              <a:spcAft>
                <a:spcPts val="0"/>
              </a:spcAft>
              <a:buNone/>
            </a:pPr>
            <a:r>
              <a:t/>
            </a:r>
            <a:endParaRPr sz="2400">
              <a:solidFill>
                <a:schemeClr val="dk1"/>
              </a:solidFill>
            </a:endParaRPr>
          </a:p>
          <a:p>
            <a:pPr indent="-381000" lvl="0" marL="457200" rtl="0" algn="l">
              <a:spcBef>
                <a:spcPts val="0"/>
              </a:spcBef>
              <a:spcAft>
                <a:spcPts val="0"/>
              </a:spcAft>
              <a:buClr>
                <a:schemeClr val="dk1"/>
              </a:buClr>
              <a:buSzPts val="2400"/>
              <a:buAutoNum type="arabicParenR"/>
            </a:pPr>
            <a:r>
              <a:rPr lang="en-IN" sz="2400">
                <a:solidFill>
                  <a:schemeClr val="dk1"/>
                </a:solidFill>
              </a:rPr>
              <a:t>Alternating Fine-tuning:  First the discriminator is used to score all augmented pairs and the encoder is updated. Then the encoder's updated representations are used to re-run k-NN in representation space, and the discriminator is updated..</a:t>
            </a:r>
            <a:endParaRPr sz="2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1"/>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Pre Training vs Fine Tuning Loss</a:t>
            </a:r>
            <a:endParaRPr/>
          </a:p>
        </p:txBody>
      </p:sp>
      <p:pic>
        <p:nvPicPr>
          <p:cNvPr id="245" name="Google Shape;245;p41" title="Screenshot 2026-03-18 121113.png"/>
          <p:cNvPicPr preferRelativeResize="0"/>
          <p:nvPr/>
        </p:nvPicPr>
        <p:blipFill>
          <a:blip r:embed="rId3">
            <a:alphaModFix/>
          </a:blip>
          <a:stretch>
            <a:fillRect/>
          </a:stretch>
        </p:blipFill>
        <p:spPr>
          <a:xfrm>
            <a:off x="142450" y="1949100"/>
            <a:ext cx="11907101" cy="1745450"/>
          </a:xfrm>
          <a:prstGeom prst="rect">
            <a:avLst/>
          </a:prstGeom>
          <a:noFill/>
          <a:ln>
            <a:noFill/>
          </a:ln>
        </p:spPr>
      </p:pic>
      <p:pic>
        <p:nvPicPr>
          <p:cNvPr id="246" name="Google Shape;246;p41" title="Screenshot 2026-03-18 120953.png"/>
          <p:cNvPicPr preferRelativeResize="0"/>
          <p:nvPr/>
        </p:nvPicPr>
        <p:blipFill>
          <a:blip r:embed="rId4">
            <a:alphaModFix/>
          </a:blip>
          <a:stretch>
            <a:fillRect/>
          </a:stretch>
        </p:blipFill>
        <p:spPr>
          <a:xfrm>
            <a:off x="149825" y="4668200"/>
            <a:ext cx="11892352" cy="1745450"/>
          </a:xfrm>
          <a:prstGeom prst="rect">
            <a:avLst/>
          </a:prstGeom>
          <a:noFill/>
          <a:ln>
            <a:noFill/>
          </a:ln>
        </p:spPr>
      </p:pic>
      <p:sp>
        <p:nvSpPr>
          <p:cNvPr id="247" name="Google Shape;247;p41"/>
          <p:cNvSpPr txBox="1"/>
          <p:nvPr/>
        </p:nvSpPr>
        <p:spPr>
          <a:xfrm>
            <a:off x="149825" y="1375350"/>
            <a:ext cx="25566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400">
                <a:solidFill>
                  <a:schemeClr val="dk1"/>
                </a:solidFill>
              </a:rPr>
              <a:t>Pre Training: </a:t>
            </a:r>
            <a:endParaRPr sz="2400">
              <a:solidFill>
                <a:schemeClr val="dk1"/>
              </a:solidFill>
            </a:endParaRPr>
          </a:p>
        </p:txBody>
      </p:sp>
      <p:sp>
        <p:nvSpPr>
          <p:cNvPr id="248" name="Google Shape;248;p41"/>
          <p:cNvSpPr txBox="1"/>
          <p:nvPr/>
        </p:nvSpPr>
        <p:spPr>
          <a:xfrm>
            <a:off x="149825" y="4174400"/>
            <a:ext cx="25566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400">
                <a:solidFill>
                  <a:schemeClr val="dk1"/>
                </a:solidFill>
              </a:rPr>
              <a:t>Fine Tuning</a:t>
            </a:r>
            <a:r>
              <a:rPr lang="en-IN" sz="2400">
                <a:solidFill>
                  <a:schemeClr val="dk1"/>
                </a:solidFill>
              </a:rPr>
              <a:t>: </a:t>
            </a:r>
            <a:endParaRPr sz="2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Results</a:t>
            </a:r>
            <a:endParaRPr/>
          </a:p>
        </p:txBody>
      </p:sp>
      <p:pic>
        <p:nvPicPr>
          <p:cNvPr id="255" name="Google Shape;255;p42" title="Screenshot 2026-03-18 121613.png"/>
          <p:cNvPicPr preferRelativeResize="0"/>
          <p:nvPr/>
        </p:nvPicPr>
        <p:blipFill>
          <a:blip r:embed="rId3">
            <a:alphaModFix/>
          </a:blip>
          <a:stretch>
            <a:fillRect/>
          </a:stretch>
        </p:blipFill>
        <p:spPr>
          <a:xfrm>
            <a:off x="358863" y="1548075"/>
            <a:ext cx="11474275" cy="4569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Limitations and Our Idea</a:t>
            </a:r>
            <a:endParaRPr/>
          </a:p>
        </p:txBody>
      </p:sp>
      <p:sp>
        <p:nvSpPr>
          <p:cNvPr id="262" name="Google Shape;262;p43"/>
          <p:cNvSpPr txBox="1"/>
          <p:nvPr/>
        </p:nvSpPr>
        <p:spPr>
          <a:xfrm>
            <a:off x="155400" y="1705975"/>
            <a:ext cx="11881200" cy="4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400">
                <a:solidFill>
                  <a:schemeClr val="dk1"/>
                </a:solidFill>
              </a:rPr>
              <a:t>Limitation:  CaliGCL addresses bias in the contrastive objective but applies its calibration uniformly regardless of graph properties. In heterophilic graphs, where topology and node attributes systematically disagree, CaliGCL's positive label strategy becomes unreliable because it assumes that graph connectivity is a meaningful signal for semantic similarity</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Idea: GCL methods including CaliGCL treat all graphs the same way regardless of whether the graph is homophilic or heterophilic. We argue that the right training strategy should depend on how much the graph's topology and node attributes conflict with each other.</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IN" sz="2400">
                <a:solidFill>
                  <a:schemeClr val="dk1"/>
                </a:solidFill>
              </a:rPr>
              <a:t>Based on this we aim to define a conflict metric and an adaptive regularization weight mechanic</a:t>
            </a:r>
            <a:endParaRPr sz="2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Conflict Metric</a:t>
            </a:r>
            <a:endParaRPr/>
          </a:p>
        </p:txBody>
      </p:sp>
      <p:sp>
        <p:nvSpPr>
          <p:cNvPr id="269" name="Google Shape;269;p44"/>
          <p:cNvSpPr txBox="1"/>
          <p:nvPr/>
        </p:nvSpPr>
        <p:spPr>
          <a:xfrm>
            <a:off x="156475" y="1572300"/>
            <a:ext cx="11898000" cy="487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For every node pair (i, j):</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Structural similarity Ssᵢⱼ — if they are connected, Sˢᵢⱼ = 1, otherwise 0</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Attribute similarity Saᵢⱼ — cosine similarity between their raw feature vectors xᵢ and xⱼ:</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Saᵢⱼ = xᵢᵀxⱼ / (‖xᵢ‖ · ‖xⱼ‖)</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rPr>
              <a:t>Conflict index</a:t>
            </a:r>
            <a:r>
              <a:rPr lang="en-IN" sz="2400">
                <a:solidFill>
                  <a:schemeClr val="dk1"/>
                </a:solidFill>
              </a:rPr>
              <a:t> C:</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C = (1 / |K|) Σ₍ᵢ,ⱼ₎ ∈ K |Ssᵢⱼ − Saᵢⱼ|</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where K is a set of sampled pairs to avoid O(N²) computation</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C near 0 means the graph is homophilic, near 1 means the graph is heterophilic</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Loss</a:t>
            </a:r>
            <a:endParaRPr/>
          </a:p>
        </p:txBody>
      </p:sp>
      <p:sp>
        <p:nvSpPr>
          <p:cNvPr id="276" name="Google Shape;276;p45"/>
          <p:cNvSpPr txBox="1"/>
          <p:nvPr/>
        </p:nvSpPr>
        <p:spPr>
          <a:xfrm>
            <a:off x="206600" y="1534325"/>
            <a:ext cx="11898000" cy="496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Combined loss has two terms:</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Ltotal = (1 − λ(C)) · Lstructural + λ(C) · Lsemantic</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Lstructural is the standard GCL contrastive loss using augmented views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Lsemantic is the attribute-based soft contrastive signal</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λ(C) = σ(α · (C − β))</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each pair (i, j) gets a soft target weight wᵢⱼ = Saᵢⱼ — their attribute cosine similarity. The loss then becomes:</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Lsemantic = −Σᵢ Σⱼ wᵢⱼ · log [ exp(Spart(</a:t>
            </a:r>
            <a:r>
              <a:rPr b="1" lang="en-IN" sz="2400">
                <a:solidFill>
                  <a:schemeClr val="dk1"/>
                </a:solidFill>
              </a:rPr>
              <a:t>h</a:t>
            </a:r>
            <a:r>
              <a:rPr lang="en-IN" sz="2400">
                <a:solidFill>
                  <a:schemeClr val="dk1"/>
                </a:solidFill>
              </a:rPr>
              <a:t>ᵢ, </a:t>
            </a:r>
            <a:r>
              <a:rPr b="1" lang="en-IN" sz="2400">
                <a:solidFill>
                  <a:schemeClr val="dk1"/>
                </a:solidFill>
              </a:rPr>
              <a:t>h</a:t>
            </a:r>
            <a:r>
              <a:rPr lang="en-IN" sz="2400">
                <a:solidFill>
                  <a:schemeClr val="dk1"/>
                </a:solidFill>
              </a:rPr>
              <a:t>ⱼ) / τ) / Σₖ exp(Spart(</a:t>
            </a:r>
            <a:r>
              <a:rPr b="1" lang="en-IN" sz="2400">
                <a:solidFill>
                  <a:schemeClr val="dk1"/>
                </a:solidFill>
              </a:rPr>
              <a:t>h</a:t>
            </a:r>
            <a:r>
              <a:rPr lang="en-IN" sz="2400">
                <a:solidFill>
                  <a:schemeClr val="dk1"/>
                </a:solidFill>
              </a:rPr>
              <a:t>ᵢ, </a:t>
            </a:r>
            <a:r>
              <a:rPr b="1" lang="en-IN" sz="2400">
                <a:solidFill>
                  <a:schemeClr val="dk1"/>
                </a:solidFill>
              </a:rPr>
              <a:t>h</a:t>
            </a:r>
            <a:r>
              <a:rPr lang="en-IN" sz="2400">
                <a:solidFill>
                  <a:schemeClr val="dk1"/>
                </a:solidFill>
              </a:rPr>
              <a:t>ₖ) / τ)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idx="1" type="body"/>
          </p:nvPr>
        </p:nvSpPr>
        <p:spPr>
          <a:xfrm>
            <a:off x="406400" y="152400"/>
            <a:ext cx="8432700" cy="114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IN"/>
              <a:t>Evaluation</a:t>
            </a:r>
            <a:endParaRPr/>
          </a:p>
        </p:txBody>
      </p:sp>
      <p:sp>
        <p:nvSpPr>
          <p:cNvPr id="283" name="Google Shape;283;p46"/>
          <p:cNvSpPr txBox="1"/>
          <p:nvPr/>
        </p:nvSpPr>
        <p:spPr>
          <a:xfrm>
            <a:off x="173175" y="1446225"/>
            <a:ext cx="11898000" cy="499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IN" sz="2400">
                <a:solidFill>
                  <a:schemeClr val="dk1"/>
                </a:solidFill>
              </a:rPr>
              <a:t>Primary metric</a:t>
            </a:r>
            <a:r>
              <a:rPr b="1" lang="en-IN" sz="2400">
                <a:solidFill>
                  <a:schemeClr val="dk1"/>
                </a:solidFill>
              </a:rPr>
              <a:t>:</a:t>
            </a:r>
            <a:r>
              <a:rPr lang="en-IN" sz="2400">
                <a:solidFill>
                  <a:schemeClr val="dk1"/>
                </a:solidFill>
              </a:rPr>
              <a:t> Node classification accuracy under linear evaluation, same protocol as CaliGCL. Train the encoder unsupervised, freeze it, train a linear classifier on 10% of nodes, test on the rest.</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rPr>
              <a:t>The key Hypothesis:</a:t>
            </a:r>
            <a:r>
              <a:rPr lang="en-IN" sz="2400">
                <a:solidFill>
                  <a:schemeClr val="dk1"/>
                </a:solidFill>
              </a:rPr>
              <a:t> As C increases (more heterophilic), our model improves over CaliGCL by a larger margin, because the adaptive mechanism specifically helps when topology and attributes conflict. CaliGCL applies the same strategy regardless of C. On Cora where C is low, results should be roughly comparable. On Chameleon and Actor where C is high, our model should pull ahead.</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7"/>
          <p:cNvSpPr txBox="1"/>
          <p:nvPr/>
        </p:nvSpPr>
        <p:spPr>
          <a:xfrm>
            <a:off x="4185669" y="2921168"/>
            <a:ext cx="3820661" cy="10156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6000">
                <a:solidFill>
                  <a:schemeClr val="dk1"/>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